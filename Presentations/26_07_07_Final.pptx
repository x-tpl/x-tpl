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9" r:id="rId4"/>
    <p:sldId id="260" r:id="rId5"/>
    <p:sldId id="262" r:id="rId6"/>
    <p:sldId id="269" r:id="rId7"/>
    <p:sldId id="270" r:id="rId8"/>
    <p:sldId id="283" r:id="rId9"/>
    <p:sldId id="285" r:id="rId10"/>
    <p:sldId id="279" r:id="rId11"/>
    <p:sldId id="280" r:id="rId12"/>
    <p:sldId id="281" r:id="rId13"/>
    <p:sldId id="282" r:id="rId14"/>
    <p:sldId id="284" r:id="rId15"/>
    <p:sldId id="275" r:id="rId16"/>
    <p:sldId id="272" r:id="rId17"/>
    <p:sldId id="276" r:id="rId18"/>
    <p:sldId id="277" r:id="rId19"/>
    <p:sldId id="278" r:id="rId20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280" autoAdjust="0"/>
  </p:normalViewPr>
  <p:slideViewPr>
    <p:cSldViewPr snapToGrid="0">
      <p:cViewPr>
        <p:scale>
          <a:sx n="85" d="100"/>
          <a:sy n="85" d="100"/>
        </p:scale>
        <p:origin x="74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App Code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88-4B92-BB65-D37342C0279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6D6-41FB-8562-19EF626D930C}"/>
              </c:ext>
            </c:extLst>
          </c:dPt>
          <c:cat>
            <c:strRef>
              <c:f>Tabelle1!$A$2:$A$3</c:f>
              <c:strCache>
                <c:ptCount val="2"/>
                <c:pt idx="0">
                  <c:v>Libraries</c:v>
                </c:pt>
                <c:pt idx="1">
                  <c:v>Logic</c:v>
                </c:pt>
              </c:strCache>
            </c:strRef>
          </c:cat>
          <c:val>
            <c:numRef>
              <c:f>Tabelle1!$B$2:$B$3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D6-41FB-8562-19EF626D93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9" name="Shape 19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906784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727217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Libraries become more important</a:t>
            </a:r>
          </a:p>
          <a:p>
            <a:r>
              <a:rPr lang="en-GB" noProof="0" dirty="0"/>
              <a:t>Interest in knowing libraries</a:t>
            </a:r>
          </a:p>
          <a:p>
            <a:r>
              <a:rPr lang="en-GB" noProof="0" dirty="0"/>
              <a:t>Open-source vs. proprietary apps</a:t>
            </a:r>
            <a:endParaRPr lang="de-CH" dirty="0"/>
          </a:p>
          <a:p>
            <a:r>
              <a:rPr lang="de-CH" dirty="0"/>
              <a:t>Up </a:t>
            </a:r>
            <a:r>
              <a:rPr lang="de-CH" dirty="0" err="1"/>
              <a:t>to</a:t>
            </a:r>
            <a:r>
              <a:rPr lang="de-CH" dirty="0"/>
              <a:t> 60% </a:t>
            </a:r>
            <a:r>
              <a:rPr lang="de-CH" dirty="0" err="1"/>
              <a:t>of</a:t>
            </a:r>
            <a:r>
              <a:rPr lang="de-CH" dirty="0"/>
              <a:t> an Apps code </a:t>
            </a:r>
            <a:r>
              <a:rPr lang="de-CH" dirty="0" err="1"/>
              <a:t>are</a:t>
            </a:r>
            <a:r>
              <a:rPr lang="de-CH" dirty="0"/>
              <a:t> </a:t>
            </a:r>
            <a:r>
              <a:rPr lang="de-CH" dirty="0" err="1"/>
              <a:t>libraries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953349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Subjective to the authors</a:t>
            </a:r>
          </a:p>
          <a:p>
            <a:r>
              <a:rPr lang="en-GB" noProof="0" dirty="0"/>
              <a:t>3 Categories: learning-based, similarity-based and clustering-based</a:t>
            </a:r>
          </a:p>
          <a:p>
            <a:r>
              <a:rPr lang="en-GB" noProof="0" dirty="0"/>
              <a:t>Many different approaches</a:t>
            </a:r>
          </a:p>
          <a:p>
            <a:r>
              <a:rPr lang="en-GB" noProof="0" dirty="0"/>
              <a:t>Same goal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0337652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Sources: </a:t>
            </a:r>
            <a:r>
              <a:rPr lang="de-CH" dirty="0" err="1"/>
              <a:t>Github</a:t>
            </a:r>
            <a:r>
              <a:rPr lang="de-CH" dirty="0"/>
              <a:t>, </a:t>
            </a:r>
            <a:r>
              <a:rPr lang="de-CH" dirty="0" err="1"/>
              <a:t>Fdroid</a:t>
            </a:r>
            <a:endParaRPr lang="de-CH" dirty="0"/>
          </a:p>
          <a:p>
            <a:r>
              <a:rPr lang="en-GB" noProof="0" dirty="0"/>
              <a:t>Only one independent benchmark (2025)</a:t>
            </a:r>
          </a:p>
          <a:p>
            <a:r>
              <a:rPr lang="en-GB" noProof="0" dirty="0"/>
              <a:t>Find APKs on GitHub &amp; F-Droid</a:t>
            </a:r>
          </a:p>
          <a:p>
            <a:r>
              <a:rPr lang="en-GB" noProof="0" dirty="0"/>
              <a:t>Extract TPLs</a:t>
            </a:r>
          </a:p>
          <a:p>
            <a:r>
              <a:rPr lang="en-GB" noProof="0" dirty="0"/>
              <a:t>Test selected tools</a:t>
            </a:r>
          </a:p>
          <a:p>
            <a:r>
              <a:rPr lang="en-GB" noProof="0" dirty="0"/>
              <a:t>Hybrid Frameworks excluded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985197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10 </a:t>
            </a:r>
            <a:r>
              <a:rPr lang="de-CH" dirty="0" err="1"/>
              <a:t>tools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420835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=&gt; People </a:t>
            </a:r>
            <a:r>
              <a:rPr lang="de-CH" dirty="0" err="1"/>
              <a:t>overrate</a:t>
            </a:r>
            <a:r>
              <a:rPr lang="de-CH" dirty="0"/>
              <a:t> </a:t>
            </a:r>
            <a:r>
              <a:rPr lang="de-CH" dirty="0" err="1"/>
              <a:t>their</a:t>
            </a:r>
            <a:r>
              <a:rPr lang="de-CH" dirty="0"/>
              <a:t> </a:t>
            </a:r>
            <a:r>
              <a:rPr lang="de-CH" dirty="0" err="1"/>
              <a:t>tools</a:t>
            </a:r>
            <a:r>
              <a:rPr lang="de-CH" dirty="0"/>
              <a:t> in </a:t>
            </a:r>
            <a:r>
              <a:rPr lang="de-CH" dirty="0" err="1"/>
              <a:t>papers</a:t>
            </a:r>
            <a:endParaRPr lang="de-CH" dirty="0"/>
          </a:p>
          <a:p>
            <a:r>
              <a:rPr lang="de-CH" dirty="0"/>
              <a:t>TP: </a:t>
            </a:r>
            <a:r>
              <a:rPr lang="de-CH" dirty="0" err="1"/>
              <a:t>correctly</a:t>
            </a:r>
            <a:r>
              <a:rPr lang="de-CH" dirty="0"/>
              <a:t> </a:t>
            </a:r>
            <a:r>
              <a:rPr lang="de-CH" dirty="0" err="1"/>
              <a:t>identified</a:t>
            </a:r>
            <a:br>
              <a:rPr lang="de-CH" dirty="0"/>
            </a:br>
            <a:r>
              <a:rPr lang="de-CH" dirty="0"/>
              <a:t>FP: </a:t>
            </a:r>
            <a:r>
              <a:rPr lang="de-CH" dirty="0" err="1"/>
              <a:t>incorrectly</a:t>
            </a:r>
            <a:r>
              <a:rPr lang="de-CH" dirty="0"/>
              <a:t> </a:t>
            </a:r>
            <a:r>
              <a:rPr lang="de-CH" dirty="0" err="1"/>
              <a:t>identified</a:t>
            </a:r>
            <a:r>
              <a:rPr lang="de-CH" dirty="0"/>
              <a:t> </a:t>
            </a:r>
            <a:r>
              <a:rPr lang="de-CH" dirty="0" err="1"/>
              <a:t>as</a:t>
            </a:r>
            <a:r>
              <a:rPr lang="de-CH" dirty="0"/>
              <a:t> </a:t>
            </a:r>
            <a:r>
              <a:rPr lang="de-CH" dirty="0" err="1"/>
              <a:t>present</a:t>
            </a:r>
            <a:r>
              <a:rPr lang="de-CH" dirty="0"/>
              <a:t> </a:t>
            </a:r>
            <a:r>
              <a:rPr lang="de-CH" dirty="0" err="1"/>
              <a:t>when</a:t>
            </a:r>
            <a:r>
              <a:rPr lang="de-CH" dirty="0"/>
              <a:t> </a:t>
            </a:r>
            <a:r>
              <a:rPr lang="de-CH" dirty="0" err="1"/>
              <a:t>they</a:t>
            </a:r>
            <a:r>
              <a:rPr lang="de-CH" dirty="0"/>
              <a:t> </a:t>
            </a:r>
            <a:r>
              <a:rPr lang="de-CH" dirty="0" err="1"/>
              <a:t>are</a:t>
            </a:r>
            <a:r>
              <a:rPr lang="de-CH" dirty="0"/>
              <a:t> not</a:t>
            </a:r>
          </a:p>
          <a:p>
            <a:r>
              <a:rPr lang="de-CH" dirty="0"/>
              <a:t>FN: </a:t>
            </a:r>
            <a:r>
              <a:rPr lang="de-CH" dirty="0" err="1"/>
              <a:t>incorrectly</a:t>
            </a:r>
            <a:r>
              <a:rPr lang="de-CH" dirty="0"/>
              <a:t> </a:t>
            </a:r>
            <a:r>
              <a:rPr lang="de-CH" dirty="0" err="1"/>
              <a:t>identified</a:t>
            </a:r>
            <a:r>
              <a:rPr lang="de-CH" dirty="0"/>
              <a:t> </a:t>
            </a:r>
            <a:r>
              <a:rPr lang="de-CH" dirty="0" err="1"/>
              <a:t>as</a:t>
            </a:r>
            <a:r>
              <a:rPr lang="de-CH" dirty="0"/>
              <a:t> absent </a:t>
            </a:r>
            <a:r>
              <a:rPr lang="de-CH" dirty="0" err="1"/>
              <a:t>when</a:t>
            </a:r>
            <a:r>
              <a:rPr lang="de-CH" dirty="0"/>
              <a:t> </a:t>
            </a:r>
            <a:r>
              <a:rPr lang="de-CH" dirty="0" err="1"/>
              <a:t>they</a:t>
            </a:r>
            <a:r>
              <a:rPr lang="de-CH" dirty="0"/>
              <a:t> </a:t>
            </a:r>
            <a:r>
              <a:rPr lang="de-CH" dirty="0" err="1"/>
              <a:t>are</a:t>
            </a:r>
            <a:r>
              <a:rPr lang="de-CH" dirty="0"/>
              <a:t> </a:t>
            </a:r>
            <a:r>
              <a:rPr lang="de-CH" dirty="0" err="1"/>
              <a:t>present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7241395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 err="1"/>
              <a:t>Excerpt</a:t>
            </a:r>
            <a:r>
              <a:rPr lang="de-CH" dirty="0"/>
              <a:t> </a:t>
            </a:r>
            <a:r>
              <a:rPr lang="de-CH" dirty="0" err="1"/>
              <a:t>from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2024 </a:t>
            </a:r>
            <a:r>
              <a:rPr lang="de-CH" dirty="0" err="1"/>
              <a:t>stackoverflow</a:t>
            </a:r>
            <a:r>
              <a:rPr lang="de-CH" dirty="0"/>
              <a:t> </a:t>
            </a:r>
            <a:r>
              <a:rPr lang="de-CH" dirty="0" err="1"/>
              <a:t>developers</a:t>
            </a:r>
            <a:r>
              <a:rPr lang="de-CH" dirty="0"/>
              <a:t> </a:t>
            </a:r>
            <a:r>
              <a:rPr lang="de-CH" dirty="0" err="1"/>
              <a:t>survey</a:t>
            </a:r>
            <a:endParaRPr lang="de-CH" dirty="0"/>
          </a:p>
          <a:p>
            <a:r>
              <a:rPr lang="de-CH" dirty="0" err="1"/>
              <a:t>Is</a:t>
            </a:r>
            <a:r>
              <a:rPr lang="de-CH" dirty="0"/>
              <a:t> in </a:t>
            </a:r>
            <a:r>
              <a:rPr lang="de-CH" dirty="0" err="1"/>
              <a:t>line</a:t>
            </a:r>
            <a:r>
              <a:rPr lang="de-CH" dirty="0"/>
              <a:t> </a:t>
            </a:r>
            <a:r>
              <a:rPr lang="de-CH" dirty="0" err="1"/>
              <a:t>with</a:t>
            </a:r>
            <a:r>
              <a:rPr lang="de-CH" dirty="0"/>
              <a:t> </a:t>
            </a:r>
            <a:r>
              <a:rPr lang="de-CH" dirty="0" err="1"/>
              <a:t>other</a:t>
            </a:r>
            <a:r>
              <a:rPr lang="de-CH" dirty="0"/>
              <a:t> source</a:t>
            </a:r>
          </a:p>
        </p:txBody>
      </p:sp>
    </p:spTree>
    <p:extLst>
      <p:ext uri="{BB962C8B-B14F-4D97-AF65-F5344CB8AC3E}">
        <p14:creationId xmlns:p14="http://schemas.microsoft.com/office/powerpoint/2010/main" val="10127145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 err="1"/>
              <a:t>incrementation</a:t>
            </a:r>
            <a:r>
              <a:rPr lang="de-CH" dirty="0"/>
              <a:t> </a:t>
            </a:r>
            <a:r>
              <a:rPr lang="de-CH" dirty="0" err="1"/>
              <a:t>strategy</a:t>
            </a:r>
            <a:endParaRPr lang="de-CH" dirty="0"/>
          </a:p>
          <a:p>
            <a:r>
              <a:rPr lang="de-CH" dirty="0"/>
              <a:t>Main </a:t>
            </a:r>
            <a:r>
              <a:rPr lang="de-CH" dirty="0" err="1"/>
              <a:t>directory</a:t>
            </a:r>
            <a:r>
              <a:rPr lang="de-CH" dirty="0"/>
              <a:t> </a:t>
            </a:r>
            <a:r>
              <a:rPr lang="de-CH" dirty="0" err="1"/>
              <a:t>location</a:t>
            </a:r>
            <a:endParaRPr lang="de-CH" dirty="0"/>
          </a:p>
          <a:p>
            <a:r>
              <a:rPr lang="de-CH" dirty="0" err="1"/>
              <a:t>Estimate</a:t>
            </a:r>
            <a:r>
              <a:rPr lang="de-CH" dirty="0"/>
              <a:t> </a:t>
            </a:r>
            <a:r>
              <a:rPr lang="de-CH" dirty="0" err="1"/>
              <a:t>versions</a:t>
            </a:r>
            <a:endParaRPr lang="de-CH" dirty="0"/>
          </a:p>
          <a:p>
            <a:r>
              <a:rPr lang="de-CH" dirty="0" err="1"/>
              <a:t>Build</a:t>
            </a:r>
            <a:r>
              <a:rPr lang="de-CH" dirty="0"/>
              <a:t> </a:t>
            </a:r>
            <a:r>
              <a:rPr lang="de-CH" dirty="0" err="1"/>
              <a:t>command</a:t>
            </a:r>
            <a:r>
              <a:rPr lang="de-CH" dirty="0"/>
              <a:t> also </a:t>
            </a:r>
            <a:r>
              <a:rPr lang="de-CH" dirty="0" err="1"/>
              <a:t>runs</a:t>
            </a:r>
            <a:r>
              <a:rPr lang="de-CH" dirty="0"/>
              <a:t> code gen</a:t>
            </a:r>
          </a:p>
        </p:txBody>
      </p:sp>
    </p:spTree>
    <p:extLst>
      <p:ext uri="{BB962C8B-B14F-4D97-AF65-F5344CB8AC3E}">
        <p14:creationId xmlns:p14="http://schemas.microsoft.com/office/powerpoint/2010/main" val="1739171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Gradle source</a:t>
            </a:r>
          </a:p>
          <a:p>
            <a:r>
              <a:rPr lang="de-CH" dirty="0"/>
              <a:t>Ground </a:t>
            </a:r>
            <a:r>
              <a:rPr lang="de-CH" dirty="0" err="1"/>
              <a:t>truth</a:t>
            </a:r>
            <a:r>
              <a:rPr lang="de-CH" dirty="0"/>
              <a:t> </a:t>
            </a:r>
            <a:r>
              <a:rPr lang="de-CH" dirty="0" err="1"/>
              <a:t>files</a:t>
            </a:r>
            <a:r>
              <a:rPr lang="de-CH" dirty="0"/>
              <a:t> </a:t>
            </a:r>
            <a:r>
              <a:rPr lang="de-CH" dirty="0" err="1"/>
              <a:t>captured</a:t>
            </a:r>
            <a:endParaRPr lang="de-CH" dirty="0"/>
          </a:p>
          <a:p>
            <a:r>
              <a:rPr lang="de-CH" dirty="0" err="1"/>
              <a:t>Build</a:t>
            </a:r>
            <a:r>
              <a:rPr lang="de-CH" dirty="0"/>
              <a:t> </a:t>
            </a:r>
            <a:r>
              <a:rPr lang="de-CH" dirty="0" err="1"/>
              <a:t>configurations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6334225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Disclaimer: React Native </a:t>
            </a:r>
            <a:r>
              <a:rPr lang="de-CH" dirty="0" err="1"/>
              <a:t>numbers</a:t>
            </a:r>
            <a:r>
              <a:rPr lang="de-CH" dirty="0"/>
              <a:t> </a:t>
            </a:r>
            <a:r>
              <a:rPr lang="de-CH" dirty="0" err="1"/>
              <a:t>are</a:t>
            </a:r>
            <a:r>
              <a:rPr lang="de-CH" dirty="0"/>
              <a:t> not final (Maven Central)</a:t>
            </a:r>
          </a:p>
        </p:txBody>
      </p:sp>
    </p:spTree>
    <p:extLst>
      <p:ext uri="{BB962C8B-B14F-4D97-AF65-F5344CB8AC3E}">
        <p14:creationId xmlns:p14="http://schemas.microsoft.com/office/powerpoint/2010/main" val="3138974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-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 5" descr="Bild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000" y="0"/>
            <a:ext cx="1256539" cy="1006095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18" name="Textplatzhalter 21"/>
          <p:cNvSpPr txBox="1"/>
          <p:nvPr/>
        </p:nvSpPr>
        <p:spPr>
          <a:xfrm>
            <a:off x="539999" y="280800"/>
            <a:ext cx="70200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914377">
              <a:lnSpc>
                <a:spcPct val="90000"/>
              </a:lnSpc>
              <a:defRPr sz="1200" spc="-1"/>
            </a:lvl1pPr>
          </a:lstStyle>
          <a:p>
            <a:r>
              <a:t>Gruppe [Nummer]: [eigenes Thema]</a:t>
            </a:r>
          </a:p>
        </p:txBody>
      </p:sp>
      <p:sp>
        <p:nvSpPr>
          <p:cNvPr id="20" name="Textplatzhalter 2"/>
          <p:cNvSpPr>
            <a:spLocks noGrp="1"/>
          </p:cNvSpPr>
          <p:nvPr>
            <p:ph type="body" sz="quarter" idx="21" hasCustomPrompt="1"/>
          </p:nvPr>
        </p:nvSpPr>
        <p:spPr>
          <a:xfrm>
            <a:off x="539999" y="1169999"/>
            <a:ext cx="7020002" cy="4103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ts val="3200"/>
              </a:lnSpc>
              <a:spcBef>
                <a:spcPts val="0"/>
              </a:spcBef>
            </a:lvl1pPr>
          </a:lstStyle>
          <a:p>
            <a:r>
              <a:rPr dirty="0"/>
              <a:t>Titel B (Arial 28pt., schwarz, max. 1 Zeile) </a:t>
            </a:r>
          </a:p>
        </p:txBody>
      </p:sp>
      <p:sp>
        <p:nvSpPr>
          <p:cNvPr id="21" name="Textplatzhalter 16"/>
          <p:cNvSpPr>
            <a:spLocks noGrp="1"/>
          </p:cNvSpPr>
          <p:nvPr>
            <p:ph type="body" sz="quarter" idx="22" hasCustomPrompt="1"/>
          </p:nvPr>
        </p:nvSpPr>
        <p:spPr>
          <a:xfrm>
            <a:off x="539999" y="2159999"/>
            <a:ext cx="3726002" cy="8437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0"/>
            </a:lvl1pPr>
          </a:lstStyle>
          <a:p>
            <a:r>
              <a:rPr dirty="0"/>
              <a:t>Arial Fett 16pt.</a:t>
            </a:r>
          </a:p>
        </p:txBody>
      </p:sp>
      <p:sp>
        <p:nvSpPr>
          <p:cNvPr id="22" name="Textplatzhalter 16"/>
          <p:cNvSpPr>
            <a:spLocks noGrp="1"/>
          </p:cNvSpPr>
          <p:nvPr>
            <p:ph type="body" sz="quarter" idx="23" hasCustomPrompt="1"/>
          </p:nvPr>
        </p:nvSpPr>
        <p:spPr>
          <a:xfrm>
            <a:off x="539999" y="3147814"/>
            <a:ext cx="3726002" cy="162218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/>
            </a:lvl1pPr>
          </a:lstStyle>
          <a:p>
            <a:r>
              <a:rPr dirty="0"/>
              <a:t>Arial 16/20pt.</a:t>
            </a:r>
          </a:p>
        </p:txBody>
      </p:sp>
      <p:sp>
        <p:nvSpPr>
          <p:cNvPr id="23" name="Titel A (Arial 28pt., rot, max. 1 Zeile)"/>
          <p:cNvSpPr txBox="1">
            <a:spLocks noGrp="1"/>
          </p:cNvSpPr>
          <p:nvPr>
            <p:ph type="title" hasCustomPrompt="1"/>
          </p:nvPr>
        </p:nvSpPr>
        <p:spPr>
          <a:xfrm>
            <a:off x="539999" y="680399"/>
            <a:ext cx="7020002" cy="41037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dirty="0"/>
              <a:t>Titel A (Arial 28pt., rot, max. 1 Zeile) </a:t>
            </a:r>
          </a:p>
        </p:txBody>
      </p:sp>
      <p:sp>
        <p:nvSpPr>
          <p:cNvPr id="24" name="Rechteck 1"/>
          <p:cNvSpPr/>
          <p:nvPr/>
        </p:nvSpPr>
        <p:spPr>
          <a:xfrm>
            <a:off x="0" y="154750"/>
            <a:ext cx="7560000" cy="3600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ndard-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Bild 5" descr="Bild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000" y="0"/>
            <a:ext cx="1256539" cy="1006095"/>
          </a:xfrm>
          <a:prstGeom prst="rect">
            <a:avLst/>
          </a:prstGeom>
          <a:ln w="12700">
            <a:miter lim="400000"/>
          </a:ln>
        </p:spPr>
      </p:pic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35" name="Title Text"/>
          <p:cNvSpPr txBox="1">
            <a:spLocks noGrp="1"/>
          </p:cNvSpPr>
          <p:nvPr>
            <p:ph type="title"/>
          </p:nvPr>
        </p:nvSpPr>
        <p:spPr>
          <a:xfrm>
            <a:off x="539999" y="676800"/>
            <a:ext cx="7020002" cy="41037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37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539999" y="1491629"/>
            <a:ext cx="7992442" cy="32663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68288" indent="-261938">
              <a:lnSpc>
                <a:spcPct val="100000"/>
              </a:lnSpc>
              <a:spcBef>
                <a:spcPts val="600"/>
              </a:spcBef>
              <a:buSzPct val="100000"/>
              <a:buFont typeface="Symbol"/>
              <a:buChar char="-"/>
              <a:defRPr sz="2000"/>
            </a:lvl1pPr>
            <a:lvl2pPr marL="570442" indent="-291042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2pPr>
            <a:lvl3pPr marL="722312" indent="-277812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3pPr>
            <a:lvl4pPr marL="1147535" indent="-258535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4pPr>
            <a:lvl5pPr marL="0" indent="1828800">
              <a:lnSpc>
                <a:spcPct val="100000"/>
              </a:lnSpc>
              <a:spcBef>
                <a:spcPts val="600"/>
              </a:spcBef>
              <a:buSzTx/>
              <a:buFont typeface="Symbol"/>
              <a:buNone/>
              <a:defRPr sz="2000"/>
            </a:lvl5pPr>
          </a:lstStyle>
          <a:p>
            <a:r>
              <a:rPr dirty="0"/>
              <a:t>1. Ebene 20pt.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Zweispaltige Standard-Folie mit zwei Auss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Bild 5" descr="Bild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000" y="0"/>
            <a:ext cx="1256539" cy="1006095"/>
          </a:xfrm>
          <a:prstGeom prst="rect">
            <a:avLst/>
          </a:prstGeom>
          <a:ln w="12700">
            <a:miter lim="400000"/>
          </a:ln>
        </p:spPr>
      </p:pic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61" name="Title Text"/>
          <p:cNvSpPr txBox="1">
            <a:spLocks noGrp="1"/>
          </p:cNvSpPr>
          <p:nvPr>
            <p:ph type="title"/>
          </p:nvPr>
        </p:nvSpPr>
        <p:spPr>
          <a:xfrm>
            <a:off x="539999" y="676800"/>
            <a:ext cx="7020002" cy="41037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39999" y="1491629"/>
            <a:ext cx="3726002" cy="18000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/>
            </a:lvl1pPr>
            <a:lvl2pPr marL="609584" indent="-152395">
              <a:lnSpc>
                <a:spcPct val="100000"/>
              </a:lnSpc>
              <a:spcBef>
                <a:spcPts val="0"/>
              </a:spcBef>
              <a:defRPr sz="1600" b="1"/>
            </a:lvl2pPr>
            <a:lvl3pPr marL="1097252" indent="-182875">
              <a:lnSpc>
                <a:spcPct val="100000"/>
              </a:lnSpc>
              <a:spcBef>
                <a:spcPts val="0"/>
              </a:spcBef>
              <a:defRPr sz="1600" b="1"/>
            </a:lvl3pPr>
            <a:lvl4pPr marL="1574760" indent="-203194">
              <a:lnSpc>
                <a:spcPct val="100000"/>
              </a:lnSpc>
              <a:spcBef>
                <a:spcPts val="0"/>
              </a:spcBef>
              <a:defRPr sz="1600" b="1"/>
            </a:lvl4pPr>
            <a:lvl5pPr marL="2031949" indent="-203194">
              <a:lnSpc>
                <a:spcPct val="100000"/>
              </a:lnSpc>
              <a:spcBef>
                <a:spcPts val="0"/>
              </a:spcBef>
              <a:defRPr sz="1600" b="1"/>
            </a:lvl5pPr>
          </a:lstStyle>
          <a:p>
            <a:r>
              <a:t>Aussage 1: Arial Fett 16pt.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4" name="Textplatzhalter 16"/>
          <p:cNvSpPr>
            <a:spLocks noGrp="1"/>
          </p:cNvSpPr>
          <p:nvPr>
            <p:ph type="body" sz="half" idx="21" hasCustomPrompt="1"/>
          </p:nvPr>
        </p:nvSpPr>
        <p:spPr>
          <a:xfrm>
            <a:off x="539999" y="1761630"/>
            <a:ext cx="3726002" cy="304236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/>
            </a:lvl1pPr>
          </a:lstStyle>
          <a:p>
            <a:r>
              <a:t>Fliesstext 1: Arial 16pt.</a:t>
            </a:r>
          </a:p>
        </p:txBody>
      </p:sp>
      <p:sp>
        <p:nvSpPr>
          <p:cNvPr id="65" name="Textplatzhalter 16"/>
          <p:cNvSpPr>
            <a:spLocks noGrp="1"/>
          </p:cNvSpPr>
          <p:nvPr>
            <p:ph type="body" sz="quarter" idx="22" hasCustomPrompt="1"/>
          </p:nvPr>
        </p:nvSpPr>
        <p:spPr>
          <a:xfrm>
            <a:off x="4877999" y="1491629"/>
            <a:ext cx="3726002" cy="18000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defTabSz="722357">
              <a:lnSpc>
                <a:spcPct val="100000"/>
              </a:lnSpc>
              <a:spcBef>
                <a:spcPts val="0"/>
              </a:spcBef>
              <a:defRPr sz="1264" b="1"/>
            </a:lvl1pPr>
          </a:lstStyle>
          <a:p>
            <a:r>
              <a:t>Aussage 2: Arial Fett 16pt.</a:t>
            </a:r>
          </a:p>
        </p:txBody>
      </p:sp>
      <p:sp>
        <p:nvSpPr>
          <p:cNvPr id="66" name="Textplatzhalter 16"/>
          <p:cNvSpPr>
            <a:spLocks noGrp="1"/>
          </p:cNvSpPr>
          <p:nvPr>
            <p:ph type="body" sz="half" idx="23" hasCustomPrompt="1"/>
          </p:nvPr>
        </p:nvSpPr>
        <p:spPr>
          <a:xfrm>
            <a:off x="4877999" y="1761630"/>
            <a:ext cx="3726002" cy="304236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/>
            </a:lvl1pPr>
          </a:lstStyle>
          <a:p>
            <a:r>
              <a:t>Fliesstext 2: Arial 16pt.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ndard-Folie mit Grafi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Bild 5" descr="Bild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000" y="0"/>
            <a:ext cx="1256539" cy="1006095"/>
          </a:xfrm>
          <a:prstGeom prst="rect">
            <a:avLst/>
          </a:prstGeom>
          <a:ln w="12700">
            <a:miter lim="400000"/>
          </a:ln>
        </p:spPr>
      </p:pic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77" name="Title Text"/>
          <p:cNvSpPr txBox="1">
            <a:spLocks noGrp="1"/>
          </p:cNvSpPr>
          <p:nvPr>
            <p:ph type="title"/>
          </p:nvPr>
        </p:nvSpPr>
        <p:spPr>
          <a:xfrm>
            <a:off x="539999" y="676800"/>
            <a:ext cx="7020002" cy="41037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79" name="Rechteck 5"/>
          <p:cNvSpPr/>
          <p:nvPr/>
        </p:nvSpPr>
        <p:spPr>
          <a:xfrm>
            <a:off x="6876256" y="1238250"/>
            <a:ext cx="2267745" cy="37477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D9D9D9"/>
                </a:solidFill>
              </a:defRPr>
            </a:pPr>
            <a:endParaRPr/>
          </a:p>
        </p:txBody>
      </p:sp>
      <p:sp>
        <p:nvSpPr>
          <p:cNvPr id="80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539999" y="1491629"/>
            <a:ext cx="6192241" cy="32663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68288" indent="-261938">
              <a:lnSpc>
                <a:spcPct val="100000"/>
              </a:lnSpc>
              <a:spcBef>
                <a:spcPts val="600"/>
              </a:spcBef>
              <a:buSzPct val="100000"/>
              <a:buFont typeface="Symbol"/>
              <a:buChar char="-"/>
              <a:defRPr sz="2000"/>
            </a:lvl1pPr>
            <a:lvl2pPr marL="570442" indent="-291042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2pPr>
            <a:lvl3pPr marL="722312" indent="-277812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3pPr>
            <a:lvl4pPr marL="1147535" indent="-258535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4pPr>
            <a:lvl5pPr marL="0" indent="1828800">
              <a:lnSpc>
                <a:spcPct val="100000"/>
              </a:lnSpc>
              <a:spcBef>
                <a:spcPts val="600"/>
              </a:spcBef>
              <a:buSzTx/>
              <a:buFont typeface="Symbol"/>
              <a:buNone/>
              <a:defRPr sz="2000"/>
            </a:lvl5pPr>
          </a:lstStyle>
          <a:p>
            <a:r>
              <a:t>1. Ebene 20pt.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ndard-Folie mit Grafi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Bild 5" descr="Bild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000" y="0"/>
            <a:ext cx="1256539" cy="1006095"/>
          </a:xfrm>
          <a:prstGeom prst="rect">
            <a:avLst/>
          </a:prstGeom>
          <a:ln w="12700">
            <a:miter lim="400000"/>
          </a:ln>
        </p:spPr>
      </p:pic>
      <p:sp>
        <p:nvSpPr>
          <p:cNvPr id="8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91" name="Title Text"/>
          <p:cNvSpPr txBox="1">
            <a:spLocks noGrp="1"/>
          </p:cNvSpPr>
          <p:nvPr>
            <p:ph type="title"/>
          </p:nvPr>
        </p:nvSpPr>
        <p:spPr>
          <a:xfrm>
            <a:off x="539999" y="676800"/>
            <a:ext cx="7020002" cy="41037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93" name="Rechteck 5"/>
          <p:cNvSpPr/>
          <p:nvPr/>
        </p:nvSpPr>
        <p:spPr>
          <a:xfrm>
            <a:off x="5651999" y="1238250"/>
            <a:ext cx="3492001" cy="37477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D9D9D9"/>
                </a:solidFill>
              </a:defRPr>
            </a:pPr>
            <a:endParaRPr/>
          </a:p>
        </p:txBody>
      </p:sp>
      <p:sp>
        <p:nvSpPr>
          <p:cNvPr id="94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539999" y="1491629"/>
            <a:ext cx="4968106" cy="32663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68288" indent="-261938">
              <a:lnSpc>
                <a:spcPct val="100000"/>
              </a:lnSpc>
              <a:spcBef>
                <a:spcPts val="600"/>
              </a:spcBef>
              <a:buSzPct val="100000"/>
              <a:buFont typeface="Symbol"/>
              <a:buChar char="-"/>
              <a:defRPr sz="2000"/>
            </a:lvl1pPr>
            <a:lvl2pPr marL="570442" indent="-291042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2pPr>
            <a:lvl3pPr marL="722312" indent="-277812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3pPr>
            <a:lvl4pPr marL="1147535" indent="-258535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4pPr>
            <a:lvl5pPr marL="0" indent="1828800">
              <a:lnSpc>
                <a:spcPct val="100000"/>
              </a:lnSpc>
              <a:spcBef>
                <a:spcPts val="600"/>
              </a:spcBef>
              <a:buSzTx/>
              <a:buFont typeface="Symbol"/>
              <a:buNone/>
              <a:defRPr sz="2000"/>
            </a:lvl5pPr>
          </a:lstStyle>
          <a:p>
            <a:r>
              <a:t>1. Ebene 20pt.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ndard-Folie mit Grafi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Bild 5" descr="Bild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000" y="0"/>
            <a:ext cx="1256539" cy="1006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105" name="Title Text"/>
          <p:cNvSpPr txBox="1">
            <a:spLocks noGrp="1"/>
          </p:cNvSpPr>
          <p:nvPr>
            <p:ph type="title"/>
          </p:nvPr>
        </p:nvSpPr>
        <p:spPr>
          <a:xfrm>
            <a:off x="539999" y="676800"/>
            <a:ext cx="7020002" cy="41037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07" name="Rechteck 5"/>
          <p:cNvSpPr/>
          <p:nvPr/>
        </p:nvSpPr>
        <p:spPr>
          <a:xfrm>
            <a:off x="4572000" y="1238250"/>
            <a:ext cx="4572000" cy="37477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D9D9D9"/>
                </a:solidFill>
              </a:defRPr>
            </a:pPr>
            <a:endParaRPr/>
          </a:p>
        </p:txBody>
      </p:sp>
      <p:sp>
        <p:nvSpPr>
          <p:cNvPr id="10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539999" y="1491629"/>
            <a:ext cx="3959993" cy="32663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68288" indent="-261938">
              <a:lnSpc>
                <a:spcPct val="100000"/>
              </a:lnSpc>
              <a:spcBef>
                <a:spcPts val="600"/>
              </a:spcBef>
              <a:buSzPct val="100000"/>
              <a:buFont typeface="Symbol"/>
              <a:buChar char="-"/>
              <a:defRPr sz="2000"/>
            </a:lvl1pPr>
            <a:lvl2pPr marL="570442" indent="-291042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2pPr>
            <a:lvl3pPr marL="722312" indent="-277812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3pPr>
            <a:lvl4pPr marL="1147535" indent="-258535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4pPr>
            <a:lvl5pPr marL="0" indent="1828800">
              <a:lnSpc>
                <a:spcPct val="100000"/>
              </a:lnSpc>
              <a:spcBef>
                <a:spcPts val="600"/>
              </a:spcBef>
              <a:buSzTx/>
              <a:buFont typeface="Symbol"/>
              <a:buNone/>
              <a:defRPr sz="2000"/>
            </a:lvl5pPr>
          </a:lstStyle>
          <a:p>
            <a:r>
              <a:t>1. Ebene 20pt.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ndard-Folie mit Grafik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hteck 4"/>
          <p:cNvSpPr/>
          <p:nvPr/>
        </p:nvSpPr>
        <p:spPr>
          <a:xfrm>
            <a:off x="0" y="1925997"/>
            <a:ext cx="9144000" cy="3060001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D9D9D9"/>
                </a:solidFill>
              </a:defRPr>
            </a:pPr>
            <a:endParaRPr/>
          </a:p>
        </p:txBody>
      </p:sp>
      <p:pic>
        <p:nvPicPr>
          <p:cNvPr id="116" name="Bild 5" descr="Bild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000" y="0"/>
            <a:ext cx="1256539" cy="1006095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119" name="Title Text"/>
          <p:cNvSpPr txBox="1">
            <a:spLocks noGrp="1"/>
          </p:cNvSpPr>
          <p:nvPr>
            <p:ph type="title"/>
          </p:nvPr>
        </p:nvSpPr>
        <p:spPr>
          <a:xfrm>
            <a:off x="539999" y="676800"/>
            <a:ext cx="7020002" cy="41037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20" name="Rechteck 5"/>
          <p:cNvSpPr/>
          <p:nvPr/>
        </p:nvSpPr>
        <p:spPr>
          <a:xfrm>
            <a:off x="3275855" y="1238250"/>
            <a:ext cx="5868145" cy="37477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D9D9D9"/>
                </a:solidFill>
              </a:defRPr>
            </a:pPr>
            <a:endParaRPr/>
          </a:p>
        </p:txBody>
      </p:sp>
      <p:sp>
        <p:nvSpPr>
          <p:cNvPr id="121" name="Rechteck 3"/>
          <p:cNvSpPr/>
          <p:nvPr/>
        </p:nvSpPr>
        <p:spPr>
          <a:xfrm>
            <a:off x="-2" y="1238250"/>
            <a:ext cx="3471833" cy="3747748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D9D9D9"/>
                </a:solidFill>
              </a:defRPr>
            </a:pPr>
            <a:endParaRPr/>
          </a:p>
        </p:txBody>
      </p:sp>
      <p:sp>
        <p:nvSpPr>
          <p:cNvPr id="12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39999" y="1491629"/>
            <a:ext cx="2735858" cy="32663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65113" indent="-258763">
              <a:lnSpc>
                <a:spcPct val="100000"/>
              </a:lnSpc>
              <a:spcBef>
                <a:spcPts val="600"/>
              </a:spcBef>
              <a:buSzPct val="100000"/>
              <a:buFont typeface="Symbol"/>
              <a:buChar char="-"/>
              <a:defRPr sz="2000"/>
            </a:lvl1pPr>
            <a:lvl2pPr marL="570442" indent="-291042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2pPr>
            <a:lvl3pPr marL="722312" indent="-277812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3pPr>
            <a:lvl4pPr marL="1147535" indent="-258535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4pPr>
            <a:lvl5pPr marL="0" indent="1828800">
              <a:lnSpc>
                <a:spcPct val="100000"/>
              </a:lnSpc>
              <a:spcBef>
                <a:spcPts val="600"/>
              </a:spcBef>
              <a:buSzTx/>
              <a:buFont typeface="Symbol"/>
              <a:buNone/>
              <a:defRPr sz="2000"/>
            </a:lvl5pPr>
          </a:lstStyle>
          <a:p>
            <a:r>
              <a:t>1. Ebene 20pt.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reite Grafi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Bild 5" descr="Bild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000" y="0"/>
            <a:ext cx="1256539" cy="1006095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133" name="Rechteck 5"/>
          <p:cNvSpPr/>
          <p:nvPr/>
        </p:nvSpPr>
        <p:spPr>
          <a:xfrm>
            <a:off x="0" y="3219823"/>
            <a:ext cx="9144000" cy="179005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D9D9D9"/>
                </a:solidFill>
              </a:defRPr>
            </a:pPr>
            <a:endParaRPr/>
          </a:p>
        </p:txBody>
      </p:sp>
      <p:sp>
        <p:nvSpPr>
          <p:cNvPr id="134" name="Title Text"/>
          <p:cNvSpPr txBox="1">
            <a:spLocks noGrp="1"/>
          </p:cNvSpPr>
          <p:nvPr>
            <p:ph type="title"/>
          </p:nvPr>
        </p:nvSpPr>
        <p:spPr>
          <a:xfrm>
            <a:off x="539999" y="676800"/>
            <a:ext cx="7020002" cy="41037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539999" y="1491631"/>
            <a:ext cx="7992442" cy="158417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68288" indent="-261938">
              <a:lnSpc>
                <a:spcPct val="100000"/>
              </a:lnSpc>
              <a:spcBef>
                <a:spcPts val="600"/>
              </a:spcBef>
              <a:buSzPct val="100000"/>
              <a:buFont typeface="Symbol"/>
              <a:buChar char="-"/>
              <a:defRPr sz="2000"/>
            </a:lvl1pPr>
            <a:lvl2pPr marL="570442" indent="-291042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2pPr>
            <a:lvl3pPr marL="722312" indent="-277812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3pPr>
            <a:lvl4pPr marL="1147535" indent="-258535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4pPr>
            <a:lvl5pPr marL="0" indent="1828800">
              <a:lnSpc>
                <a:spcPct val="100000"/>
              </a:lnSpc>
              <a:spcBef>
                <a:spcPts val="600"/>
              </a:spcBef>
              <a:buSzTx/>
              <a:buFont typeface="Symbol"/>
              <a:buNone/>
              <a:defRPr sz="2000"/>
            </a:lvl5pPr>
          </a:lstStyle>
          <a:p>
            <a:r>
              <a:t>1. Ebene 20pt.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reite Grafi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hteck 4"/>
          <p:cNvSpPr/>
          <p:nvPr/>
        </p:nvSpPr>
        <p:spPr>
          <a:xfrm>
            <a:off x="0" y="1925997"/>
            <a:ext cx="9144000" cy="3060001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D9D9D9"/>
                </a:solidFill>
              </a:defRPr>
            </a:pPr>
            <a:endParaRPr/>
          </a:p>
        </p:txBody>
      </p:sp>
      <p:pic>
        <p:nvPicPr>
          <p:cNvPr id="144" name="Bild 5" descr="Bild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000" y="0"/>
            <a:ext cx="1256539" cy="1006095"/>
          </a:xfrm>
          <a:prstGeom prst="rect">
            <a:avLst/>
          </a:prstGeom>
          <a:ln w="12700">
            <a:miter lim="400000"/>
          </a:ln>
        </p:spPr>
      </p:pic>
      <p:sp>
        <p:nvSpPr>
          <p:cNvPr id="1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147" name="Rechteck 5"/>
          <p:cNvSpPr/>
          <p:nvPr/>
        </p:nvSpPr>
        <p:spPr>
          <a:xfrm>
            <a:off x="0" y="3977259"/>
            <a:ext cx="9144000" cy="103262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D9D9D9"/>
                </a:solidFill>
              </a:defRPr>
            </a:pPr>
            <a:endParaRPr/>
          </a:p>
        </p:txBody>
      </p:sp>
      <p:sp>
        <p:nvSpPr>
          <p:cNvPr id="148" name="Title Text"/>
          <p:cNvSpPr txBox="1">
            <a:spLocks noGrp="1"/>
          </p:cNvSpPr>
          <p:nvPr>
            <p:ph type="title"/>
          </p:nvPr>
        </p:nvSpPr>
        <p:spPr>
          <a:xfrm>
            <a:off x="539999" y="676800"/>
            <a:ext cx="7020002" cy="41037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49" name="Rechteck 3"/>
          <p:cNvSpPr/>
          <p:nvPr/>
        </p:nvSpPr>
        <p:spPr>
          <a:xfrm>
            <a:off x="0" y="1238249"/>
            <a:ext cx="9144000" cy="248563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D9D9D9"/>
                </a:solidFill>
              </a:defRPr>
            </a:pPr>
            <a:endParaRPr/>
          </a:p>
        </p:txBody>
      </p:sp>
      <p:sp>
        <p:nvSpPr>
          <p:cNvPr id="150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539999" y="1491631"/>
            <a:ext cx="7992442" cy="238332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68288" indent="-261938">
              <a:lnSpc>
                <a:spcPct val="100000"/>
              </a:lnSpc>
              <a:spcBef>
                <a:spcPts val="600"/>
              </a:spcBef>
              <a:buSzPct val="100000"/>
              <a:buFont typeface="Symbol"/>
              <a:buChar char="-"/>
              <a:defRPr sz="2000"/>
            </a:lvl1pPr>
            <a:lvl2pPr marL="570442" indent="-291042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2pPr>
            <a:lvl3pPr marL="722312" indent="-277812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3pPr>
            <a:lvl4pPr marL="1147535" indent="-258535">
              <a:lnSpc>
                <a:spcPct val="100000"/>
              </a:lnSpc>
              <a:spcBef>
                <a:spcPts val="600"/>
              </a:spcBef>
              <a:buFont typeface="Symbol"/>
              <a:buChar char="-"/>
              <a:defRPr sz="2000"/>
            </a:lvl4pPr>
            <a:lvl5pPr marL="0" indent="1828800">
              <a:lnSpc>
                <a:spcPct val="100000"/>
              </a:lnSpc>
              <a:spcBef>
                <a:spcPts val="600"/>
              </a:spcBef>
              <a:buSzTx/>
              <a:buFont typeface="Symbol"/>
              <a:buNone/>
              <a:defRPr sz="2000"/>
            </a:lvl5pPr>
          </a:lstStyle>
          <a:p>
            <a:r>
              <a:t>1. Ebene 20pt.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Agenda-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Bild 5" descr="Bild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000" y="0"/>
            <a:ext cx="1256539" cy="1006095"/>
          </a:xfrm>
          <a:prstGeom prst="rect">
            <a:avLst/>
          </a:prstGeom>
          <a:ln w="12700">
            <a:miter lim="400000"/>
          </a:ln>
        </p:spPr>
      </p:pic>
      <p:sp>
        <p:nvSpPr>
          <p:cNvPr id="1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161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539999" y="2190750"/>
            <a:ext cx="7992442" cy="261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342900" indent="-342900">
              <a:lnSpc>
                <a:spcPct val="100000"/>
              </a:lnSpc>
              <a:spcBef>
                <a:spcPts val="0"/>
              </a:spcBef>
              <a:buSzPct val="100000"/>
              <a:buFont typeface="Symbol"/>
              <a:buChar char="-"/>
              <a:defRPr sz="2000"/>
            </a:lvl1pPr>
            <a:lvl2pPr marL="742931" indent="-285742">
              <a:lnSpc>
                <a:spcPct val="100000"/>
              </a:lnSpc>
              <a:spcBef>
                <a:spcPts val="0"/>
              </a:spcBef>
              <a:buFont typeface="Symbol"/>
              <a:buChar char="-"/>
              <a:defRPr sz="2000"/>
            </a:lvl2pPr>
            <a:lvl3pPr marL="1200119" indent="-285742">
              <a:lnSpc>
                <a:spcPct val="100000"/>
              </a:lnSpc>
              <a:spcBef>
                <a:spcPts val="0"/>
              </a:spcBef>
              <a:buFont typeface="Symbol"/>
              <a:buChar char="-"/>
              <a:defRPr sz="2000"/>
            </a:lvl3pPr>
            <a:lvl4pPr marL="1657308" indent="-285742">
              <a:lnSpc>
                <a:spcPct val="100000"/>
              </a:lnSpc>
              <a:spcBef>
                <a:spcPts val="0"/>
              </a:spcBef>
              <a:buFont typeface="Symbol"/>
              <a:buChar char="-"/>
              <a:defRPr sz="2000"/>
            </a:lvl4pPr>
            <a:lvl5pPr marL="2114497" indent="-285742">
              <a:lnSpc>
                <a:spcPct val="100000"/>
              </a:lnSpc>
              <a:spcBef>
                <a:spcPts val="0"/>
              </a:spcBef>
              <a:buFont typeface="Symbol"/>
              <a:buChar char="·"/>
              <a:defRPr sz="2000"/>
            </a:lvl5pPr>
          </a:lstStyle>
          <a:p>
            <a:r>
              <a:rPr dirty="0"/>
              <a:t>1. Ebene 20pt.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162" name="Titel A (Arial 28pt., rot, max. 1 Zeile)"/>
          <p:cNvSpPr txBox="1">
            <a:spLocks noGrp="1"/>
          </p:cNvSpPr>
          <p:nvPr>
            <p:ph type="title" hasCustomPrompt="1"/>
          </p:nvPr>
        </p:nvSpPr>
        <p:spPr>
          <a:xfrm>
            <a:off x="539999" y="680399"/>
            <a:ext cx="7020002" cy="41037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Titel A (Arial 28pt., rot, max. 1 Zeile) </a:t>
            </a:r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hr grosse 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hteck 4"/>
          <p:cNvSpPr/>
          <p:nvPr/>
        </p:nvSpPr>
        <p:spPr>
          <a:xfrm>
            <a:off x="0" y="1925997"/>
            <a:ext cx="9144000" cy="3060001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D9D9D9"/>
                </a:solidFill>
              </a:defRPr>
            </a:pPr>
            <a:endParaRPr/>
          </a:p>
        </p:txBody>
      </p:sp>
      <p:pic>
        <p:nvPicPr>
          <p:cNvPr id="170" name="Bild 5" descr="Bild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000" y="0"/>
            <a:ext cx="1256539" cy="1006095"/>
          </a:xfrm>
          <a:prstGeom prst="rect">
            <a:avLst/>
          </a:prstGeom>
          <a:ln w="12700">
            <a:miter lim="400000"/>
          </a:ln>
        </p:spPr>
      </p:pic>
      <p:sp>
        <p:nvSpPr>
          <p:cNvPr id="1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173" name="Title Text"/>
          <p:cNvSpPr txBox="1">
            <a:spLocks noGrp="1"/>
          </p:cNvSpPr>
          <p:nvPr>
            <p:ph type="title"/>
          </p:nvPr>
        </p:nvSpPr>
        <p:spPr>
          <a:xfrm>
            <a:off x="539999" y="676800"/>
            <a:ext cx="7020002" cy="41037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74" name="Rechteck 3"/>
          <p:cNvSpPr/>
          <p:nvPr/>
        </p:nvSpPr>
        <p:spPr>
          <a:xfrm>
            <a:off x="0" y="1238250"/>
            <a:ext cx="9144000" cy="37477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D9D9D9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chwar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echteck 4"/>
          <p:cNvSpPr/>
          <p:nvPr/>
        </p:nvSpPr>
        <p:spPr>
          <a:xfrm>
            <a:off x="0" y="1925997"/>
            <a:ext cx="9144000" cy="3060001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D9D9D9"/>
                </a:solidFill>
              </a:defRPr>
            </a:pPr>
            <a:endParaRPr/>
          </a:p>
        </p:txBody>
      </p:sp>
      <p:pic>
        <p:nvPicPr>
          <p:cNvPr id="189" name="Bild 5" descr="Bild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000" y="0"/>
            <a:ext cx="1256539" cy="1006095"/>
          </a:xfrm>
          <a:prstGeom prst="rect">
            <a:avLst/>
          </a:prstGeom>
          <a:ln w="12700">
            <a:miter lim="400000"/>
          </a:ln>
        </p:spPr>
      </p:pic>
      <p:sp>
        <p:nvSpPr>
          <p:cNvPr id="19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191" name="Textplatzhalter 21"/>
          <p:cNvSpPr txBox="1"/>
          <p:nvPr/>
        </p:nvSpPr>
        <p:spPr>
          <a:xfrm>
            <a:off x="539999" y="280800"/>
            <a:ext cx="70200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914377">
              <a:lnSpc>
                <a:spcPct val="90000"/>
              </a:lnSpc>
              <a:defRPr sz="1200" spc="-1"/>
            </a:lvl1pPr>
          </a:lstStyle>
          <a:p>
            <a:r>
              <a:t>Gruppe [Nummer]: [eigenes Thema]</a:t>
            </a:r>
          </a:p>
        </p:txBody>
      </p:sp>
      <p:sp>
        <p:nvSpPr>
          <p:cNvPr id="192" name="Rechteck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D9D9D9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4"/>
          <p:cNvSpPr/>
          <p:nvPr/>
        </p:nvSpPr>
        <p:spPr>
          <a:xfrm>
            <a:off x="0" y="1925997"/>
            <a:ext cx="9144000" cy="3060001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D9D9D9"/>
                </a:solidFill>
              </a:defRPr>
            </a:pPr>
            <a:endParaRPr dirty="0"/>
          </a:p>
        </p:txBody>
      </p:sp>
      <p:pic>
        <p:nvPicPr>
          <p:cNvPr id="3" name="Bild 5" descr="Bild 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84000" y="0"/>
            <a:ext cx="1256539" cy="1006095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33400" y="5000624"/>
            <a:ext cx="127000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>
              <a:defRPr sz="800"/>
            </a:lvl1pPr>
          </a:lstStyle>
          <a:p>
            <a:fld id="{86CB4B4D-7CA3-9044-876B-883B54F8677D}" type="slidenum">
              <a:t>‹Nr.›</a:t>
            </a:fld>
            <a:endParaRPr dirty="0"/>
          </a:p>
        </p:txBody>
      </p:sp>
      <p:sp>
        <p:nvSpPr>
          <p:cNvPr id="5" name="Textplatzhalter 21"/>
          <p:cNvSpPr txBox="1"/>
          <p:nvPr/>
        </p:nvSpPr>
        <p:spPr>
          <a:xfrm>
            <a:off x="539999" y="280800"/>
            <a:ext cx="70200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914377">
              <a:lnSpc>
                <a:spcPct val="90000"/>
              </a:lnSpc>
              <a:defRPr sz="1200" spc="-1"/>
            </a:lvl1pPr>
          </a:lstStyle>
          <a:p>
            <a:r>
              <a:rPr dirty="0"/>
              <a:t>Gruppe [Nummer]: [</a:t>
            </a:r>
            <a:r>
              <a:rPr dirty="0" err="1"/>
              <a:t>eigenes</a:t>
            </a:r>
            <a:r>
              <a:rPr dirty="0"/>
              <a:t> Thema]</a:t>
            </a:r>
          </a:p>
        </p:txBody>
      </p:sp>
      <p:sp>
        <p:nvSpPr>
          <p:cNvPr id="6" name="Rechteck 3"/>
          <p:cNvSpPr/>
          <p:nvPr/>
        </p:nvSpPr>
        <p:spPr>
          <a:xfrm>
            <a:off x="0" y="0"/>
            <a:ext cx="9144000" cy="498599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D9D9D9"/>
                </a:solidFill>
              </a:defRPr>
            </a:pPr>
            <a:endParaRPr/>
          </a:p>
        </p:txBody>
      </p:sp>
      <p:sp>
        <p:nvSpPr>
          <p:cNvPr id="7" name="Title Text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994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8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transition spd="med"/>
  <p:txStyles>
    <p:titleStyle>
      <a:lvl1pPr marL="0" marR="0" indent="0" algn="l" defTabSz="914377" rtl="0" latinLnBrk="0">
        <a:lnSpc>
          <a:spcPts val="32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E6002E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377" rtl="0" latinLnBrk="0">
        <a:lnSpc>
          <a:spcPts val="32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E6002E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377" rtl="0" latinLnBrk="0">
        <a:lnSpc>
          <a:spcPts val="32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E6002E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377" rtl="0" latinLnBrk="0">
        <a:lnSpc>
          <a:spcPts val="32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E6002E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377" rtl="0" latinLnBrk="0">
        <a:lnSpc>
          <a:spcPts val="32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E6002E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377" rtl="0" latinLnBrk="0">
        <a:lnSpc>
          <a:spcPts val="32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E6002E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377" rtl="0" latinLnBrk="0">
        <a:lnSpc>
          <a:spcPts val="32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E6002E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377" rtl="0" latinLnBrk="0">
        <a:lnSpc>
          <a:spcPts val="32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E6002E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377" rtl="0" latinLnBrk="0">
        <a:lnSpc>
          <a:spcPts val="32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E6002E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0" marR="0" indent="0" algn="l" defTabSz="914377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723881" marR="0" indent="-266692" algn="l" defTabSz="914377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1234408" marR="0" indent="-320031" algn="l" defTabSz="914377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1727156" marR="0" indent="-355590" algn="l" defTabSz="914377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2184345" marR="0" indent="-355590" algn="l" defTabSz="914377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2641533" marR="0" indent="-355590" algn="l" defTabSz="914377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3098722" marR="0" indent="-355590" algn="l" defTabSz="914377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3555910" marR="0" indent="-355590" algn="l" defTabSz="914377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4013099" marR="0" indent="-355590" algn="l" defTabSz="914377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platzhalter 2"/>
          <p:cNvSpPr txBox="1">
            <a:spLocks noGrp="1"/>
          </p:cNvSpPr>
          <p:nvPr>
            <p:ph type="body" sz="quarter" idx="4294967295"/>
          </p:nvPr>
        </p:nvSpPr>
        <p:spPr>
          <a:xfrm>
            <a:off x="539999" y="1169999"/>
            <a:ext cx="7776418" cy="820739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ts val="3200"/>
              </a:lnSpc>
              <a:spcBef>
                <a:spcPts val="0"/>
              </a:spcBef>
              <a:defRPr sz="2800"/>
            </a:lvl1pPr>
          </a:lstStyle>
          <a:p>
            <a:r>
              <a:rPr lang="en-US" noProof="0" dirty="0"/>
              <a:t>Building a Ground-Truth Dataset of Android Hybrid Applications and Their Third-Party Libraries</a:t>
            </a:r>
            <a:endParaRPr lang="en-GB" noProof="0" dirty="0"/>
          </a:p>
        </p:txBody>
      </p:sp>
      <p:sp>
        <p:nvSpPr>
          <p:cNvPr id="203" name="Textplatzhalter 16"/>
          <p:cNvSpPr>
            <a:spLocks noGrp="1"/>
          </p:cNvSpPr>
          <p:nvPr>
            <p:ph type="body" idx="22"/>
          </p:nvPr>
        </p:nvSpPr>
        <p:spPr>
          <a:xfrm>
            <a:off x="539999" y="2571750"/>
            <a:ext cx="4104010" cy="8437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spcBef>
                <a:spcPts val="1200"/>
              </a:spcBef>
              <a:defRPr b="0"/>
            </a:pPr>
            <a:r>
              <a:rPr lang="en-GB" dirty="0"/>
              <a:t>07</a:t>
            </a:r>
            <a:r>
              <a:rPr lang="en-GB" noProof="0" dirty="0"/>
              <a:t>.07.2026</a:t>
            </a:r>
          </a:p>
        </p:txBody>
      </p:sp>
      <p:sp>
        <p:nvSpPr>
          <p:cNvPr id="204" name="Textplatzhalter 18"/>
          <p:cNvSpPr>
            <a:spLocks noGrp="1"/>
          </p:cNvSpPr>
          <p:nvPr>
            <p:ph type="body" idx="23"/>
          </p:nvPr>
        </p:nvSpPr>
        <p:spPr>
          <a:xfrm>
            <a:off x="539999" y="2872740"/>
            <a:ext cx="3726002" cy="189726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lnSpcReduction="10000"/>
          </a:bodyPr>
          <a:lstStyle/>
          <a:p>
            <a:pPr defTabSz="868658">
              <a:defRPr sz="1520" b="1"/>
            </a:pPr>
            <a:r>
              <a:rPr lang="en-GB" noProof="0" dirty="0"/>
              <a:t>Tim Jordi</a:t>
            </a:r>
          </a:p>
          <a:p>
            <a:pPr defTabSz="868658">
              <a:defRPr sz="1520" b="1"/>
            </a:pPr>
            <a:r>
              <a:rPr lang="en-GB" b="0" i="1" noProof="0" dirty="0"/>
              <a:t>Supervised by:</a:t>
            </a:r>
          </a:p>
          <a:p>
            <a:pPr defTabSz="868658">
              <a:defRPr sz="1520" b="1"/>
            </a:pPr>
            <a:r>
              <a:rPr lang="en-GB" dirty="0"/>
              <a:t>Prof. Dr. Timo Kehrer</a:t>
            </a:r>
          </a:p>
          <a:p>
            <a:pPr defTabSz="868658">
              <a:defRPr sz="1520" b="1"/>
            </a:pPr>
            <a:r>
              <a:rPr lang="en-GB" noProof="0" dirty="0"/>
              <a:t>Thomas Sutter</a:t>
            </a:r>
          </a:p>
          <a:p>
            <a:pPr defTabSz="868658">
              <a:defRPr sz="1520" b="1"/>
            </a:pPr>
            <a:endParaRPr lang="en-GB" noProof="0" dirty="0"/>
          </a:p>
          <a:p>
            <a:pPr defTabSz="868658">
              <a:defRPr sz="1520" b="1"/>
            </a:pPr>
            <a:endParaRPr lang="en-GB" noProof="0" dirty="0"/>
          </a:p>
          <a:p>
            <a:pPr defTabSz="868658">
              <a:defRPr sz="1520"/>
            </a:pPr>
            <a:r>
              <a:rPr lang="en-GB" b="0" noProof="0" dirty="0"/>
              <a:t>Software Engineering Group</a:t>
            </a:r>
          </a:p>
          <a:p>
            <a:pPr defTabSz="868658">
              <a:defRPr sz="1520"/>
            </a:pPr>
            <a:r>
              <a:rPr lang="en-GB" b="0" noProof="0" dirty="0"/>
              <a:t>Institute of Computer Science</a:t>
            </a:r>
          </a:p>
          <a:p>
            <a:r>
              <a:rPr lang="en-GB" b="0" noProof="0" dirty="0"/>
              <a:t>University of Bern</a:t>
            </a:r>
          </a:p>
        </p:txBody>
      </p:sp>
      <p:sp>
        <p:nvSpPr>
          <p:cNvPr id="205" name="Titel 7"/>
          <p:cNvSpPr txBox="1">
            <a:spLocks noGrp="1"/>
          </p:cNvSpPr>
          <p:nvPr>
            <p:ph type="title"/>
          </p:nvPr>
        </p:nvSpPr>
        <p:spPr>
          <a:xfrm>
            <a:off x="539999" y="680399"/>
            <a:ext cx="7020002" cy="410370"/>
          </a:xfrm>
          <a:prstGeom prst="rect">
            <a:avLst/>
          </a:prstGeom>
        </p:spPr>
        <p:txBody>
          <a:bodyPr/>
          <a:lstStyle/>
          <a:p>
            <a:r>
              <a:rPr lang="en-GB" noProof="0" dirty="0"/>
              <a:t>Bachelors Thesis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Foliennummernplatzhalter 5"/>
          <p:cNvSpPr txBox="1">
            <a:spLocks noGrp="1"/>
          </p:cNvSpPr>
          <p:nvPr>
            <p:ph type="sldNum" sz="quarter" idx="2"/>
          </p:nvPr>
        </p:nvSpPr>
        <p:spPr>
          <a:xfrm>
            <a:off x="540275" y="5002569"/>
            <a:ext cx="57708" cy="1231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lang="en-GB" noProof="0" dirty="0"/>
              <a:t>2</a:t>
            </a:r>
          </a:p>
        </p:txBody>
      </p:sp>
      <p:sp>
        <p:nvSpPr>
          <p:cNvPr id="211" name="Textplatzhalter 3"/>
          <p:cNvSpPr txBox="1">
            <a:spLocks noGrp="1"/>
          </p:cNvSpPr>
          <p:nvPr>
            <p:ph type="body" idx="1"/>
          </p:nvPr>
        </p:nvSpPr>
        <p:spPr>
          <a:xfrm>
            <a:off x="539999" y="1853101"/>
            <a:ext cx="7992441" cy="2610000"/>
          </a:xfrm>
          <a:prstGeom prst="rect">
            <a:avLst/>
          </a:prstGeom>
        </p:spPr>
        <p:txBody>
          <a:bodyPr/>
          <a:lstStyle/>
          <a:p>
            <a:pPr marL="457200" indent="-457200">
              <a:spcBef>
                <a:spcPts val="600"/>
              </a:spcBef>
              <a:buClr>
                <a:srgbClr val="000000"/>
              </a:buClr>
              <a:buFontTx/>
              <a:buAutoNum type="arabicPeriod"/>
              <a:defRPr spc="-100"/>
            </a:pPr>
            <a:r>
              <a:rPr lang="en-GB" noProof="0" dirty="0"/>
              <a:t>Introduction</a:t>
            </a:r>
          </a:p>
          <a:p>
            <a:pPr marL="457200" indent="-457200">
              <a:spcBef>
                <a:spcPts val="600"/>
              </a:spcBef>
              <a:buClr>
                <a:srgbClr val="000000"/>
              </a:buClr>
              <a:buFontTx/>
              <a:buAutoNum type="arabicPeriod"/>
              <a:defRPr spc="-100"/>
            </a:pPr>
            <a:r>
              <a:rPr lang="en-GB" noProof="0" dirty="0"/>
              <a:t>TPL Detection</a:t>
            </a:r>
          </a:p>
          <a:p>
            <a:pPr marL="457200" indent="-457200">
              <a:spcBef>
                <a:spcPts val="600"/>
              </a:spcBef>
              <a:buClr>
                <a:srgbClr val="000000"/>
              </a:buClr>
              <a:buFontTx/>
              <a:buAutoNum type="arabicPeriod"/>
              <a:defRPr spc="-100"/>
            </a:pPr>
            <a:r>
              <a:rPr lang="en-GB" noProof="0" dirty="0"/>
              <a:t>Benchmarking</a:t>
            </a:r>
          </a:p>
          <a:p>
            <a:pPr marL="457200" indent="-457200">
              <a:spcBef>
                <a:spcPts val="600"/>
              </a:spcBef>
              <a:buClr>
                <a:srgbClr val="000000"/>
              </a:buClr>
              <a:buFontTx/>
              <a:buAutoNum type="arabicPeriod"/>
              <a:defRPr spc="-100"/>
            </a:pPr>
            <a:r>
              <a:rPr lang="en-GB" dirty="0"/>
              <a:t>Results</a:t>
            </a:r>
            <a:endParaRPr lang="en-GB" noProof="0" dirty="0"/>
          </a:p>
          <a:p>
            <a:pPr marL="457200" indent="-457200">
              <a:spcBef>
                <a:spcPts val="600"/>
              </a:spcBef>
              <a:buClr>
                <a:srgbClr val="000000"/>
              </a:buClr>
              <a:buFontTx/>
              <a:buAutoNum type="arabicPeriod"/>
              <a:defRPr spc="-100"/>
            </a:pPr>
            <a:r>
              <a:rPr lang="en-GB" dirty="0"/>
              <a:t>Conclusion</a:t>
            </a:r>
          </a:p>
        </p:txBody>
      </p:sp>
      <p:sp>
        <p:nvSpPr>
          <p:cNvPr id="212" name="Titel 6"/>
          <p:cNvSpPr txBox="1">
            <a:spLocks noGrp="1"/>
          </p:cNvSpPr>
          <p:nvPr>
            <p:ph type="title"/>
          </p:nvPr>
        </p:nvSpPr>
        <p:spPr>
          <a:xfrm>
            <a:off x="539999" y="680399"/>
            <a:ext cx="7020002" cy="410370"/>
          </a:xfrm>
          <a:prstGeom prst="rect">
            <a:avLst/>
          </a:prstGeom>
        </p:spPr>
        <p:txBody>
          <a:bodyPr/>
          <a:lstStyle/>
          <a:p>
            <a:r>
              <a:rPr lang="en-GB" noProof="0" dirty="0"/>
              <a:t>Outline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Foliennummernplatzhalter 5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 smtClean="0"/>
              <a:t>3</a:t>
            </a:fld>
            <a:endParaRPr lang="en-GB" noProof="0" dirty="0"/>
          </a:p>
        </p:txBody>
      </p:sp>
      <p:sp>
        <p:nvSpPr>
          <p:cNvPr id="226" name="Titel 5"/>
          <p:cNvSpPr txBox="1">
            <a:spLocks noGrp="1"/>
          </p:cNvSpPr>
          <p:nvPr>
            <p:ph type="title"/>
          </p:nvPr>
        </p:nvSpPr>
        <p:spPr>
          <a:xfrm>
            <a:off x="539999" y="676800"/>
            <a:ext cx="7020002" cy="410370"/>
          </a:xfrm>
          <a:prstGeom prst="rect">
            <a:avLst/>
          </a:prstGeom>
        </p:spPr>
        <p:txBody>
          <a:bodyPr/>
          <a:lstStyle/>
          <a:p>
            <a:r>
              <a:rPr lang="en-GB" noProof="0" dirty="0"/>
              <a:t>Introduction</a:t>
            </a:r>
          </a:p>
        </p:txBody>
      </p:sp>
      <p:sp>
        <p:nvSpPr>
          <p:cNvPr id="227" name="Inhaltsplatzhalter 6"/>
          <p:cNvSpPr txBox="1">
            <a:spLocks noGrp="1"/>
          </p:cNvSpPr>
          <p:nvPr>
            <p:ph type="body" sz="half" idx="1"/>
          </p:nvPr>
        </p:nvSpPr>
        <p:spPr>
          <a:xfrm>
            <a:off x="539999" y="1491629"/>
            <a:ext cx="4968106" cy="3266371"/>
          </a:xfrm>
          <a:prstGeom prst="rect">
            <a:avLst/>
          </a:prstGeom>
        </p:spPr>
        <p:txBody>
          <a:bodyPr/>
          <a:lstStyle/>
          <a:p>
            <a:endParaRPr lang="en-GB" noProof="0" dirty="0"/>
          </a:p>
          <a:p>
            <a:endParaRPr lang="en-GB" noProof="0" dirty="0"/>
          </a:p>
        </p:txBody>
      </p:sp>
      <p:sp>
        <p:nvSpPr>
          <p:cNvPr id="231" name="Rechteck 2"/>
          <p:cNvSpPr txBox="1"/>
          <p:nvPr/>
        </p:nvSpPr>
        <p:spPr>
          <a:xfrm>
            <a:off x="990649" y="5002567"/>
            <a:ext cx="5084725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/>
            </a:lvl1pPr>
          </a:lstStyle>
          <a:p>
            <a:r>
              <a:rPr lang="en-GB" noProof="0" dirty="0" err="1"/>
              <a:t>Gokkaya</a:t>
            </a:r>
            <a:r>
              <a:rPr lang="en-GB" noProof="0" dirty="0"/>
              <a:t> et al.: </a:t>
            </a:r>
            <a:r>
              <a:rPr lang="en-US" dirty="0"/>
              <a:t>Software supply chain: A taxonomy of attacks, mitigations and risk assessment strategies, 2026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E176B66-A12E-BC82-C612-C1C931B1F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250" y="1491629"/>
            <a:ext cx="4154750" cy="2735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3F828B5E-8A7A-C726-D77E-8A32421AE5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5284288"/>
              </p:ext>
            </p:extLst>
          </p:nvPr>
        </p:nvGraphicFramePr>
        <p:xfrm>
          <a:off x="4572000" y="1328963"/>
          <a:ext cx="3740458" cy="31121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Foliennummernplatzhalter 5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 smtClean="0"/>
              <a:t>4</a:t>
            </a:fld>
            <a:endParaRPr lang="en-GB" noProof="0" dirty="0"/>
          </a:p>
        </p:txBody>
      </p:sp>
      <p:sp>
        <p:nvSpPr>
          <p:cNvPr id="237" name="Titel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TPL Detection</a:t>
            </a:r>
          </a:p>
        </p:txBody>
      </p:sp>
      <p:sp>
        <p:nvSpPr>
          <p:cNvPr id="238" name="Inhaltsplatzhalter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350" indent="0">
              <a:buNone/>
            </a:pPr>
            <a:endParaRPr lang="en-GB" noProof="0" dirty="0"/>
          </a:p>
        </p:txBody>
      </p:sp>
      <p:sp>
        <p:nvSpPr>
          <p:cNvPr id="239" name="Rechteck 2"/>
          <p:cNvSpPr txBox="1"/>
          <p:nvPr/>
        </p:nvSpPr>
        <p:spPr>
          <a:xfrm>
            <a:off x="955138" y="5000624"/>
            <a:ext cx="6386695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defRPr sz="800"/>
            </a:lvl1pPr>
          </a:lstStyle>
          <a:p>
            <a:r>
              <a:rPr lang="en-GB" noProof="0" dirty="0"/>
              <a:t>Zhan et al.: </a:t>
            </a:r>
            <a:r>
              <a:rPr lang="en-US" dirty="0"/>
              <a:t>The hidden complexities of Android TPL detection: An empirical analysis of techniques, challenges, and effectiveness, 2025</a:t>
            </a:r>
            <a:endParaRPr lang="en-GB" noProof="0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26A42379-AA09-FB1F-E7D8-05CDC8016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48" y="1377992"/>
            <a:ext cx="8014093" cy="3493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Foliennummernplatzhalter 5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lang="en-GB" noProof="0" smtClean="0"/>
              <a:t>5</a:t>
            </a:fld>
            <a:endParaRPr lang="en-GB" noProof="0" dirty="0"/>
          </a:p>
        </p:txBody>
      </p:sp>
      <p:sp>
        <p:nvSpPr>
          <p:cNvPr id="250" name="Titel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 dirty="0"/>
              <a:t>Benchmarking</a:t>
            </a:r>
          </a:p>
        </p:txBody>
      </p:sp>
      <p:sp>
        <p:nvSpPr>
          <p:cNvPr id="251" name="Inhaltsplatzhalter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350" indent="0">
              <a:buNone/>
            </a:pPr>
            <a:endParaRPr lang="en-GB" noProof="0" dirty="0"/>
          </a:p>
          <a:p>
            <a:endParaRPr lang="en-GB" noProof="0" dirty="0"/>
          </a:p>
        </p:txBody>
      </p:sp>
      <p:sp>
        <p:nvSpPr>
          <p:cNvPr id="252" name="Rechteck 4"/>
          <p:cNvSpPr txBox="1"/>
          <p:nvPr/>
        </p:nvSpPr>
        <p:spPr>
          <a:xfrm>
            <a:off x="990648" y="5007008"/>
            <a:ext cx="808233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defRPr sz="800"/>
            </a:lvl1pPr>
          </a:lstStyle>
          <a:p>
            <a:r>
              <a:rPr lang="en-GB" noProof="0" dirty="0"/>
              <a:t>Gu et al. : Revisiting Third-Party Library Detection: A Ground Truth Dataset and Its Implications Across Security Tasks, 2025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BBF837B-8E06-A487-48B1-0AF467E36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9125"/>
            <a:ext cx="9144000" cy="3591499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DB058732-8F3D-4431-8094-08D9F37B12DA}"/>
              </a:ext>
            </a:extLst>
          </p:cNvPr>
          <p:cNvSpPr/>
          <p:nvPr/>
        </p:nvSpPr>
        <p:spPr>
          <a:xfrm>
            <a:off x="2758440" y="1409125"/>
            <a:ext cx="4869180" cy="3591499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243E8419-4AE7-FDF8-CA2E-3711B014637C}"/>
              </a:ext>
            </a:extLst>
          </p:cNvPr>
          <p:cNvSpPr/>
          <p:nvPr/>
        </p:nvSpPr>
        <p:spPr>
          <a:xfrm>
            <a:off x="7627620" y="1318260"/>
            <a:ext cx="1516380" cy="210312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0FC864D-6963-071A-ED99-A64C48276D23}"/>
              </a:ext>
            </a:extLst>
          </p:cNvPr>
          <p:cNvSpPr/>
          <p:nvPr/>
        </p:nvSpPr>
        <p:spPr>
          <a:xfrm>
            <a:off x="7627620" y="3421380"/>
            <a:ext cx="1516380" cy="1579244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D6814B-2D04-1F0E-EA9F-45E769D25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Results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83FB313-EFAD-8342-8D55-1E37439BA966}"/>
              </a:ext>
            </a:extLst>
          </p:cNvPr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GB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27121CE-2ADE-6164-5EEE-3A298CCF0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8995"/>
            <a:ext cx="9144000" cy="378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38579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22AE0A-897B-16D9-DF86-8DDF04FEB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Comparison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EF95789-0767-DE5A-8BD5-A53767EB06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350" indent="0">
              <a:buNone/>
            </a:pPr>
            <a:endParaRPr lang="en-GB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9AF21EC-B3D6-8A5D-D2FB-C3BEE5698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4307" y="2210286"/>
            <a:ext cx="6039693" cy="182905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486D772-1629-E6C6-0F2D-4907051B6B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53149"/>
            <a:ext cx="2737023" cy="174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90642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71961B-53D7-C651-5729-111EBF468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Research Questions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B0561AC-61A9-D5B9-43D1-54B3358CF515}"/>
              </a:ext>
            </a:extLst>
          </p:cNvPr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7A1A48B-19F4-A679-DCBB-78043CB51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868" y="1838873"/>
            <a:ext cx="7074264" cy="257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76158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EE8564-57C8-E2E3-3DC5-783952416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Frameworks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743917D-B485-48A0-50AB-B9F01D6E9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8E3FED1-E9BB-5924-70C3-86DFD0A00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339" y="382245"/>
            <a:ext cx="4135837" cy="4760636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195938C1-902B-64C1-4784-84CBCFBCC0C4}"/>
              </a:ext>
            </a:extLst>
          </p:cNvPr>
          <p:cNvSpPr/>
          <p:nvPr/>
        </p:nvSpPr>
        <p:spPr>
          <a:xfrm>
            <a:off x="3844977" y="749504"/>
            <a:ext cx="1558977" cy="247338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645FF3C-A036-1991-EDD2-16911A166820}"/>
              </a:ext>
            </a:extLst>
          </p:cNvPr>
          <p:cNvSpPr/>
          <p:nvPr/>
        </p:nvSpPr>
        <p:spPr>
          <a:xfrm>
            <a:off x="3839982" y="1209199"/>
            <a:ext cx="1558977" cy="247338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31D880F-9593-042F-2D30-FF28755FA686}"/>
              </a:ext>
            </a:extLst>
          </p:cNvPr>
          <p:cNvSpPr/>
          <p:nvPr/>
        </p:nvSpPr>
        <p:spPr>
          <a:xfrm>
            <a:off x="3787517" y="3300318"/>
            <a:ext cx="1558977" cy="247338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1B671EE-B32E-2B33-0735-A49D4A436CAE}"/>
              </a:ext>
            </a:extLst>
          </p:cNvPr>
          <p:cNvSpPr/>
          <p:nvPr/>
        </p:nvSpPr>
        <p:spPr>
          <a:xfrm>
            <a:off x="3802507" y="4244708"/>
            <a:ext cx="1558977" cy="247338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38FAED6-CE60-B4D4-D5A7-FC7AABAED253}"/>
              </a:ext>
            </a:extLst>
          </p:cNvPr>
          <p:cNvSpPr/>
          <p:nvPr/>
        </p:nvSpPr>
        <p:spPr>
          <a:xfrm>
            <a:off x="3817497" y="4896784"/>
            <a:ext cx="1558977" cy="247338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FB18CD30-21D2-0218-02B0-A0B3A4974D5D}"/>
              </a:ext>
            </a:extLst>
          </p:cNvPr>
          <p:cNvSpPr/>
          <p:nvPr/>
        </p:nvSpPr>
        <p:spPr>
          <a:xfrm>
            <a:off x="3795012" y="3772519"/>
            <a:ext cx="1558977" cy="247338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CH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506319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14B150-4EBC-CB2C-F5C9-D47030776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Pipeline Design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CE625C-443E-C5DA-0136-BE9715ED61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24E06ED-1199-B0C3-E5AD-4A29BD3C7F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881801"/>
            <a:ext cx="8782050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41281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55F990-7E6E-7279-4271-1EAA1EE06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Implementation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21AEBE1-79FA-D93D-2A55-AC7F43F5B0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1F92660-8A5E-C546-EA3B-180702C51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705" y="1268742"/>
            <a:ext cx="5771026" cy="3874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05260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A8DA7E-1CB3-2D23-3AB6-AAC52E686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Results</a:t>
            </a:r>
            <a:endParaRPr lang="de-CH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87DF8F5-7A38-96C7-82D0-103214F11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E91AA22-3B40-E1CE-42C2-B7F42B423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782" y="1930952"/>
            <a:ext cx="7302875" cy="238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67942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3DBD0E-4342-85B9-CDB9-8EB177C37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Results</a:t>
            </a:r>
            <a:endParaRPr lang="de-CH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36A9971-CFFA-B52A-D02B-F75A26228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13CDED0-7145-F1F5-78D4-659DDDE6A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89" y="1654713"/>
            <a:ext cx="7048862" cy="294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43287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D8ADC3-9886-1210-A00B-6357BB504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Results</a:t>
            </a:r>
            <a:endParaRPr lang="de-CH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9BA365B-EAA1-A1F3-99E8-D6389813C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389FC2A-2E7D-8579-E1FF-F06949649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07" y="1396651"/>
            <a:ext cx="6759585" cy="345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72623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41DA49-3290-8238-53EF-E8ED8FB64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Conclusion</a:t>
            </a:r>
            <a:endParaRPr lang="de-CH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7ACD56E-384A-8624-4795-9CAAE59B0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de-CH" dirty="0"/>
              <a:t>First Android hybrid </a:t>
            </a:r>
            <a:r>
              <a:rPr lang="de-CH" dirty="0" err="1"/>
              <a:t>application</a:t>
            </a:r>
            <a:r>
              <a:rPr lang="de-CH" dirty="0"/>
              <a:t> </a:t>
            </a:r>
            <a:r>
              <a:rPr lang="de-CH" dirty="0" err="1"/>
              <a:t>dataset</a:t>
            </a:r>
            <a:endParaRPr lang="de-CH" dirty="0"/>
          </a:p>
          <a:p>
            <a:pPr lvl="2"/>
            <a:r>
              <a:rPr lang="de-CH" dirty="0" err="1"/>
              <a:t>Direct</a:t>
            </a:r>
            <a:r>
              <a:rPr lang="de-CH" dirty="0"/>
              <a:t> </a:t>
            </a:r>
            <a:r>
              <a:rPr lang="de-CH" dirty="0" err="1"/>
              <a:t>obfuscation</a:t>
            </a:r>
            <a:r>
              <a:rPr lang="de-CH" dirty="0"/>
              <a:t> </a:t>
            </a:r>
            <a:r>
              <a:rPr lang="de-CH" dirty="0" err="1"/>
              <a:t>observation</a:t>
            </a:r>
            <a:endParaRPr lang="de-CH" dirty="0"/>
          </a:p>
          <a:p>
            <a:pPr lvl="2"/>
            <a:r>
              <a:rPr lang="de-CH" dirty="0"/>
              <a:t>Evaluation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existing</a:t>
            </a:r>
            <a:r>
              <a:rPr lang="de-CH" dirty="0"/>
              <a:t> </a:t>
            </a:r>
            <a:r>
              <a:rPr lang="de-CH" dirty="0" err="1"/>
              <a:t>tools</a:t>
            </a:r>
            <a:endParaRPr lang="de-CH" dirty="0"/>
          </a:p>
          <a:p>
            <a:pPr lvl="2"/>
            <a:r>
              <a:rPr lang="de-CH" dirty="0" err="1"/>
              <a:t>Improving</a:t>
            </a:r>
            <a:r>
              <a:rPr lang="de-CH" dirty="0"/>
              <a:t> </a:t>
            </a:r>
            <a:r>
              <a:rPr lang="de-CH" dirty="0" err="1"/>
              <a:t>performance</a:t>
            </a:r>
            <a:r>
              <a:rPr lang="de-CH" dirty="0"/>
              <a:t> on hybrid </a:t>
            </a:r>
            <a:r>
              <a:rPr lang="de-CH" dirty="0" err="1"/>
              <a:t>apps</a:t>
            </a:r>
            <a:endParaRPr lang="de-CH" dirty="0"/>
          </a:p>
          <a:p>
            <a:pPr marL="444500" lvl="2" indent="0">
              <a:buNone/>
            </a:pP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9870655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4BA110-79EB-FC4E-CCF3-F9CDB950A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Questions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96D67A2-A6D9-AA66-62E5-F7E61E793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pic>
        <p:nvPicPr>
          <p:cNvPr id="3074" name="Picture 2" descr="To Get the Most Out of Your Team, Ask Better Questions - Business HorsePower">
            <a:extLst>
              <a:ext uri="{FF2B5EF4-FFF2-40B4-BE49-F238E27FC236}">
                <a16:creationId xmlns:a16="http://schemas.microsoft.com/office/drawing/2014/main" id="{3B8D2727-3E4C-92D3-5858-A0DAC4C45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437" y="2053251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43269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5772FA-734F-9E99-172F-0C992B662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Sources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354FFC-02B3-3B87-6BAA-F0B02256B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CH" sz="1200" dirty="0"/>
              <a:t>Slide 3: </a:t>
            </a:r>
          </a:p>
          <a:p>
            <a:pPr lvl="1"/>
            <a:r>
              <a:rPr lang="en-GB" sz="1200" dirty="0"/>
              <a:t>1: https://avatars.githubusercontent.com/u/14101776?s=280&amp;v=4, 25.05.26; </a:t>
            </a:r>
          </a:p>
          <a:p>
            <a:pPr lvl="1"/>
            <a:r>
              <a:rPr lang="en-GB" sz="1200" dirty="0"/>
              <a:t>2: https://de.wikipedia.org/wiki/React_Native, 25.05.26</a:t>
            </a:r>
          </a:p>
          <a:p>
            <a:endParaRPr lang="en-GB" sz="1200" dirty="0"/>
          </a:p>
          <a:p>
            <a:r>
              <a:rPr lang="de-CH" sz="1200" dirty="0"/>
              <a:t> Slide 4: </a:t>
            </a:r>
            <a:r>
              <a:rPr lang="en-US" sz="1200" dirty="0"/>
              <a:t> </a:t>
            </a:r>
          </a:p>
          <a:p>
            <a:pPr lvl="1"/>
            <a:r>
              <a:rPr lang="en-US" sz="1200" dirty="0"/>
              <a:t>B. </a:t>
            </a:r>
            <a:r>
              <a:rPr lang="en-US" sz="1200" dirty="0" err="1"/>
              <a:t>Gokkaya</a:t>
            </a:r>
            <a:r>
              <a:rPr lang="en-US" sz="1200" dirty="0"/>
              <a:t>, L. Aniello, and B. Halak, “Software supply chain: A taxonomy of attacks, mitigations and risk assessment strategies,” Journal of Information Security and Applications, vol. 97, p. 104324, 2026. [Online]. Available: https://www.sciencedirect.com/science/article/pii/S2214212625003606,</a:t>
            </a:r>
          </a:p>
          <a:p>
            <a:pPr lvl="1"/>
            <a:r>
              <a:rPr lang="en-US" sz="1200" dirty="0"/>
              <a:t>H. Wang, Y. Guo, Z. Ma, and X. Chen, “Wukong: a scalable and accurate two-phase approach to android app clone detection,” in Proceedings of the 2015 International Symposium on Software Testing and Analysis, ser. ISSTA 2015. New York, NY, USA: Association for Computing Machinery, 2015, p. 71–82. [Online]. Available: https://doi.org/10.1145/2771783.2771795</a:t>
            </a:r>
            <a:endParaRPr lang="de-CH" sz="1200" dirty="0"/>
          </a:p>
        </p:txBody>
      </p:sp>
    </p:spTree>
    <p:extLst>
      <p:ext uri="{BB962C8B-B14F-4D97-AF65-F5344CB8AC3E}">
        <p14:creationId xmlns:p14="http://schemas.microsoft.com/office/powerpoint/2010/main" val="277135982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E6EC18-A6F4-2505-4267-EA7BC6D11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Sources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B6D2A8-F848-45BA-BD73-E0AAF6286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CH" sz="1200" dirty="0"/>
              <a:t>Slide 5: </a:t>
            </a:r>
            <a:r>
              <a:rPr lang="en-US" sz="1200" dirty="0"/>
              <a:t> L. Zhan, J. Ming, J. Fu, G. Peng, L. Sha, and L. Lan, “The hidden complexities of android </a:t>
            </a:r>
            <a:r>
              <a:rPr lang="en-US" sz="1200" dirty="0" err="1"/>
              <a:t>tpl</a:t>
            </a:r>
            <a:r>
              <a:rPr lang="en-US" sz="1200" dirty="0"/>
              <a:t> detection: An empirical analysis of techniques, challenges, and effectiveness,” Computers Security, vol. 159, p. 104672, 2025. [Online]. Available: https://www.sciencedirect.com/science/article/pii/S016740482500361X</a:t>
            </a:r>
          </a:p>
          <a:p>
            <a:r>
              <a:rPr lang="en-US" sz="1200" dirty="0"/>
              <a:t>Slide 6: Z. Ma, H. Wang, Y. Guo, and X. Chen, “</a:t>
            </a:r>
            <a:r>
              <a:rPr lang="en-US" sz="1200" dirty="0" err="1"/>
              <a:t>Libradar</a:t>
            </a:r>
            <a:r>
              <a:rPr lang="en-US" sz="1200" dirty="0"/>
              <a:t>: Fast and accurate detection of third-party libraries in android apps,” in 2016 IEEE/ACM 38th International Conference on Software Engineering Companion (ICSE-C), 2016, pp. 653–656.</a:t>
            </a:r>
          </a:p>
          <a:p>
            <a:r>
              <a:rPr lang="en-US" sz="1200" dirty="0"/>
              <a:t>Slide 7: Y. Wu, C. Sun, D. Zeng, G. Tan, S. Ma, and P. Wang, “</a:t>
            </a:r>
            <a:r>
              <a:rPr lang="en-US" sz="1200" dirty="0" err="1"/>
              <a:t>LibScan</a:t>
            </a:r>
            <a:r>
              <a:rPr lang="en-US" sz="1200" dirty="0"/>
              <a:t>: Towards more precise Third-Party library identification for android applications,” in 32nd USENIX Security Symposium (USENIX Security 23). Anaheim, CA: USENIX Association, Aug. 2023, pp. 3385–3402. [Online]. Available: https://www.usenix.org/conference/usenixsecurity23/presentation/wu-yafei</a:t>
            </a:r>
          </a:p>
          <a:p>
            <a:r>
              <a:rPr lang="de-CH" sz="1200" dirty="0"/>
              <a:t>Slide 8: D. Pan, Y. </a:t>
            </a:r>
            <a:r>
              <a:rPr lang="de-CH" sz="1200" dirty="0" err="1"/>
              <a:t>Xu</a:t>
            </a:r>
            <a:r>
              <a:rPr lang="de-CH" sz="1200" dirty="0"/>
              <a:t>, R. Feng, D. </a:t>
            </a:r>
            <a:r>
              <a:rPr lang="de-CH" sz="1200" dirty="0" err="1"/>
              <a:t>Yu</a:t>
            </a:r>
            <a:r>
              <a:rPr lang="de-CH" sz="1200" dirty="0"/>
              <a:t>, J. Chen, Y. Fang, and Y. Zhang, “Pay </a:t>
            </a:r>
            <a:r>
              <a:rPr lang="de-CH" sz="1200" dirty="0" err="1"/>
              <a:t>your</a:t>
            </a:r>
            <a:r>
              <a:rPr lang="de-CH" sz="1200" dirty="0"/>
              <a:t> </a:t>
            </a:r>
            <a:r>
              <a:rPr lang="de-CH" sz="1200" dirty="0" err="1"/>
              <a:t>attention</a:t>
            </a:r>
            <a:r>
              <a:rPr lang="de-CH" sz="1200" dirty="0"/>
              <a:t> on </a:t>
            </a:r>
            <a:r>
              <a:rPr lang="de-CH" sz="1200" dirty="0" err="1"/>
              <a:t>lib</a:t>
            </a:r>
            <a:r>
              <a:rPr lang="de-CH" sz="1200" dirty="0"/>
              <a:t>! </a:t>
            </a:r>
            <a:r>
              <a:rPr lang="de-CH" sz="1200" dirty="0" err="1"/>
              <a:t>android</a:t>
            </a:r>
            <a:r>
              <a:rPr lang="de-CH" sz="1200" dirty="0"/>
              <a:t> </a:t>
            </a:r>
            <a:r>
              <a:rPr lang="de-CH" sz="1200" dirty="0" err="1"/>
              <a:t>third</a:t>
            </a:r>
            <a:r>
              <a:rPr lang="de-CH" sz="1200" dirty="0"/>
              <a:t>-party </a:t>
            </a:r>
            <a:r>
              <a:rPr lang="de-CH" sz="1200" dirty="0" err="1"/>
              <a:t>library</a:t>
            </a:r>
            <a:r>
              <a:rPr lang="de-CH" sz="1200" dirty="0"/>
              <a:t> </a:t>
            </a:r>
            <a:r>
              <a:rPr lang="de-CH" sz="1200" dirty="0" err="1"/>
              <a:t>detection</a:t>
            </a:r>
            <a:r>
              <a:rPr lang="de-CH" sz="1200" dirty="0"/>
              <a:t> via feature </a:t>
            </a:r>
            <a:r>
              <a:rPr lang="de-CH" sz="1200" dirty="0" err="1"/>
              <a:t>language</a:t>
            </a:r>
            <a:r>
              <a:rPr lang="de-CH" sz="1200" dirty="0"/>
              <a:t> </a:t>
            </a:r>
            <a:r>
              <a:rPr lang="de-CH" sz="1200" dirty="0" err="1"/>
              <a:t>model</a:t>
            </a:r>
            <a:r>
              <a:rPr lang="de-CH" sz="1200" dirty="0"/>
              <a:t>,” in 2025 IEEE International Conference on Software Analysis, Evolution and Reengineering (SANER), 2025, pp. 217–228.</a:t>
            </a:r>
          </a:p>
        </p:txBody>
      </p:sp>
    </p:spTree>
    <p:extLst>
      <p:ext uri="{BB962C8B-B14F-4D97-AF65-F5344CB8AC3E}">
        <p14:creationId xmlns:p14="http://schemas.microsoft.com/office/powerpoint/2010/main" val="388014762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C7CD65-6661-91AA-8B9F-1EED1D45B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Sources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1C032E6-BA7D-1718-54D2-F0420CEE8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CH" sz="1200" dirty="0"/>
              <a:t>Slide 9-11: </a:t>
            </a:r>
            <a:r>
              <a:rPr lang="en-US" sz="1200" dirty="0"/>
              <a:t>J. Gu, H. Lu, G. Nan, Y. Lin, K. Wang, Y. Guo, Y. Cao, and Y. Liu, “Revisiting third-party library detection: A ground truth dataset and its implications across security tasks,” pp. 1–3, 7–9, 2025. [Online]. Available: https://arxiv.org/abs/2509.04091</a:t>
            </a:r>
          </a:p>
          <a:p>
            <a:endParaRPr lang="de-CH" sz="1200" dirty="0"/>
          </a:p>
        </p:txBody>
      </p:sp>
    </p:spTree>
    <p:extLst>
      <p:ext uri="{BB962C8B-B14F-4D97-AF65-F5344CB8AC3E}">
        <p14:creationId xmlns:p14="http://schemas.microsoft.com/office/powerpoint/2010/main" val="163784494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Universität Bern Vorlage">
  <a:themeElements>
    <a:clrScheme name="Universität Bern Vorlag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Universität Bern Vorlag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Universität Bern Vorlag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Universität Bern Vorlage">
  <a:themeElements>
    <a:clrScheme name="Universität Bern Vorlag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Universität Bern Vorlag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Universität Bern Vorlag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861</Words>
  <Application>Microsoft Office PowerPoint</Application>
  <PresentationFormat>Bildschirmpräsentation (16:9)</PresentationFormat>
  <Paragraphs>87</Paragraphs>
  <Slides>19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3" baseType="lpstr">
      <vt:lpstr>Arial</vt:lpstr>
      <vt:lpstr>Calibri</vt:lpstr>
      <vt:lpstr>Symbol</vt:lpstr>
      <vt:lpstr>Universität Bern Vorlage</vt:lpstr>
      <vt:lpstr>Bachelors Thesis</vt:lpstr>
      <vt:lpstr>Outline</vt:lpstr>
      <vt:lpstr>Introduction</vt:lpstr>
      <vt:lpstr>TPL Detection</vt:lpstr>
      <vt:lpstr>Benchmarking</vt:lpstr>
      <vt:lpstr>Results</vt:lpstr>
      <vt:lpstr>Comparison</vt:lpstr>
      <vt:lpstr>Research Questions</vt:lpstr>
      <vt:lpstr>Frameworks</vt:lpstr>
      <vt:lpstr>Pipeline Design</vt:lpstr>
      <vt:lpstr>Implementation</vt:lpstr>
      <vt:lpstr>Results</vt:lpstr>
      <vt:lpstr>Results</vt:lpstr>
      <vt:lpstr>Results</vt:lpstr>
      <vt:lpstr>Conclusion</vt:lpstr>
      <vt:lpstr>Questions</vt:lpstr>
      <vt:lpstr>Sources</vt:lpstr>
      <vt:lpstr>Sources</vt:lpstr>
      <vt:lpstr>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Tim Jordi</dc:creator>
  <cp:lastModifiedBy>Jordi, Tim Frederik (STUDENTS)</cp:lastModifiedBy>
  <cp:revision>29</cp:revision>
  <dcterms:modified xsi:type="dcterms:W3CDTF">2026-07-06T19:18:44Z</dcterms:modified>
</cp:coreProperties>
</file>