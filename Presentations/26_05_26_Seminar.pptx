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71" r:id="rId9"/>
    <p:sldId id="262" r:id="rId10"/>
    <p:sldId id="269" r:id="rId11"/>
    <p:sldId id="270" r:id="rId12"/>
    <p:sldId id="266" r:id="rId13"/>
    <p:sldId id="272" r:id="rId1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479" autoAdjust="0"/>
  </p:normalViewPr>
  <p:slideViewPr>
    <p:cSldViewPr snapToGrid="0">
      <p:cViewPr varScale="1">
        <p:scale>
          <a:sx n="72" d="100"/>
          <a:sy n="72" d="100"/>
        </p:scale>
        <p:origin x="11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19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9" name="Shape 19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06784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2721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205495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Up </a:t>
            </a:r>
            <a:r>
              <a:rPr lang="de-CH" dirty="0" err="1"/>
              <a:t>to</a:t>
            </a:r>
            <a:r>
              <a:rPr lang="de-CH" dirty="0"/>
              <a:t> 60% </a:t>
            </a:r>
            <a:r>
              <a:rPr lang="de-CH" dirty="0" err="1"/>
              <a:t>of</a:t>
            </a:r>
            <a:r>
              <a:rPr lang="de-CH" dirty="0"/>
              <a:t> an Apps code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libraries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53349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33765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050670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Sources: </a:t>
            </a:r>
            <a:r>
              <a:rPr lang="de-CH" dirty="0" err="1"/>
              <a:t>Github</a:t>
            </a:r>
            <a:r>
              <a:rPr lang="de-CH" dirty="0"/>
              <a:t>, </a:t>
            </a:r>
            <a:r>
              <a:rPr lang="de-CH" dirty="0" err="1"/>
              <a:t>FDroid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851979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TP: </a:t>
            </a:r>
            <a:r>
              <a:rPr lang="de-CH" dirty="0" err="1"/>
              <a:t>correctly</a:t>
            </a:r>
            <a:r>
              <a:rPr lang="de-CH" dirty="0"/>
              <a:t> </a:t>
            </a:r>
            <a:r>
              <a:rPr lang="de-CH" dirty="0" err="1"/>
              <a:t>identified</a:t>
            </a:r>
            <a:br>
              <a:rPr lang="de-CH" dirty="0"/>
            </a:br>
            <a:r>
              <a:rPr lang="de-CH" dirty="0"/>
              <a:t>FP: </a:t>
            </a:r>
            <a:r>
              <a:rPr lang="de-CH" dirty="0" err="1"/>
              <a:t>incorrectly</a:t>
            </a:r>
            <a:r>
              <a:rPr lang="de-CH" dirty="0"/>
              <a:t> </a:t>
            </a:r>
            <a:r>
              <a:rPr lang="de-CH" dirty="0" err="1"/>
              <a:t>identified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present</a:t>
            </a:r>
            <a:r>
              <a:rPr lang="de-CH" dirty="0"/>
              <a:t> </a:t>
            </a:r>
            <a:r>
              <a:rPr lang="de-CH" dirty="0" err="1"/>
              <a:t>when</a:t>
            </a:r>
            <a:r>
              <a:rPr lang="de-CH" dirty="0"/>
              <a:t> </a:t>
            </a:r>
            <a:r>
              <a:rPr lang="de-CH" dirty="0" err="1"/>
              <a:t>they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not</a:t>
            </a:r>
          </a:p>
          <a:p>
            <a:r>
              <a:rPr lang="de-CH" dirty="0"/>
              <a:t>FN: </a:t>
            </a:r>
            <a:r>
              <a:rPr lang="de-CH" dirty="0" err="1"/>
              <a:t>incorrectly</a:t>
            </a:r>
            <a:r>
              <a:rPr lang="de-CH" dirty="0"/>
              <a:t> </a:t>
            </a:r>
            <a:r>
              <a:rPr lang="de-CH" dirty="0" err="1"/>
              <a:t>identified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absent </a:t>
            </a:r>
            <a:r>
              <a:rPr lang="de-CH" dirty="0" err="1"/>
              <a:t>when</a:t>
            </a:r>
            <a:r>
              <a:rPr lang="de-CH" dirty="0"/>
              <a:t> </a:t>
            </a:r>
            <a:r>
              <a:rPr lang="de-CH" dirty="0" err="1"/>
              <a:t>they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present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1395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9949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el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6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8" name="Textplatzhalter 21"/>
          <p:cNvSpPr txBox="1"/>
          <p:nvPr/>
        </p:nvSpPr>
        <p:spPr>
          <a:xfrm>
            <a:off x="539999" y="280800"/>
            <a:ext cx="702000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914377">
              <a:lnSpc>
                <a:spcPct val="90000"/>
              </a:lnSpc>
              <a:defRPr sz="1200" spc="-1"/>
            </a:lvl1pPr>
          </a:lstStyle>
          <a:p>
            <a:r>
              <a:t>Gruppe [Nummer]: [eigenes Thema]</a:t>
            </a:r>
          </a:p>
        </p:txBody>
      </p:sp>
      <p:sp>
        <p:nvSpPr>
          <p:cNvPr id="19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00" y="1925997"/>
            <a:ext cx="4572000" cy="3060001"/>
          </a:xfrm>
          <a:prstGeom prst="rect">
            <a:avLst/>
          </a:prstGeom>
          <a:solidFill>
            <a:srgbClr val="BFBFBF"/>
          </a:solidFill>
        </p:spPr>
        <p:txBody>
          <a:bodyPr lIns="0" tIns="0" rIns="0" bIns="0">
            <a:normAutofit/>
          </a:bodyPr>
          <a:lstStyle>
            <a:lvl1pPr>
              <a:defRPr sz="2000"/>
            </a:lvl1pPr>
            <a:lvl2pPr marL="647684" indent="-190495">
              <a:defRPr sz="2000"/>
            </a:lvl2pPr>
            <a:lvl3pPr marL="1142971" indent="-228593">
              <a:defRPr sz="2000"/>
            </a:lvl3pPr>
            <a:lvl4pPr marL="1625559" indent="-253993">
              <a:defRPr sz="2000"/>
            </a:lvl4pPr>
            <a:lvl5pPr marL="2082748" indent="-253993">
              <a:defRPr sz="2000"/>
            </a:lvl5pPr>
          </a:lstStyle>
          <a:p>
            <a:r>
              <a:t> Media Platzhalter: 12.7 (b) x 8.5 (h) cm 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0" name="Textplatzhalter 2"/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1169999"/>
            <a:ext cx="7020002" cy="410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ts val="3200"/>
              </a:lnSpc>
              <a:spcBef>
                <a:spcPts val="0"/>
              </a:spcBef>
            </a:lvl1pPr>
          </a:lstStyle>
          <a:p>
            <a:r>
              <a:t>Titel B (Arial 28pt., schwarz, max. 1 Zeile) </a:t>
            </a:r>
          </a:p>
        </p:txBody>
      </p:sp>
      <p:sp>
        <p:nvSpPr>
          <p:cNvPr id="21" name="Textplatzhalter 16"/>
          <p:cNvSpPr>
            <a:spLocks noGrp="1"/>
          </p:cNvSpPr>
          <p:nvPr>
            <p:ph type="body" sz="quarter" idx="22" hasCustomPrompt="1"/>
          </p:nvPr>
        </p:nvSpPr>
        <p:spPr>
          <a:xfrm>
            <a:off x="539999" y="2159999"/>
            <a:ext cx="3726002" cy="84379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/>
            </a:lvl1pPr>
          </a:lstStyle>
          <a:p>
            <a:r>
              <a:t>Arial Fett 16pt.</a:t>
            </a:r>
          </a:p>
        </p:txBody>
      </p:sp>
      <p:sp>
        <p:nvSpPr>
          <p:cNvPr id="22" name="Textplatzhalter 16"/>
          <p:cNvSpPr>
            <a:spLocks noGrp="1"/>
          </p:cNvSpPr>
          <p:nvPr>
            <p:ph type="body" sz="quarter" idx="23" hasCustomPrompt="1"/>
          </p:nvPr>
        </p:nvSpPr>
        <p:spPr>
          <a:xfrm>
            <a:off x="539999" y="3147814"/>
            <a:ext cx="3726002" cy="162218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/>
            </a:lvl1pPr>
          </a:lstStyle>
          <a:p>
            <a:r>
              <a:t>Arial 16/20pt.</a:t>
            </a:r>
          </a:p>
        </p:txBody>
      </p:sp>
      <p:sp>
        <p:nvSpPr>
          <p:cNvPr id="23" name="Titel A (Arial 28pt., rot, max. 1 Zeile)"/>
          <p:cNvSpPr txBox="1">
            <a:spLocks noGrp="1"/>
          </p:cNvSpPr>
          <p:nvPr>
            <p:ph type="title" hasCustomPrompt="1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Titel A (Arial 28pt., rot, max. 1 Zeile) </a:t>
            </a:r>
          </a:p>
        </p:txBody>
      </p:sp>
      <p:sp>
        <p:nvSpPr>
          <p:cNvPr id="24" name="Rechteck 1"/>
          <p:cNvSpPr/>
          <p:nvPr/>
        </p:nvSpPr>
        <p:spPr>
          <a:xfrm>
            <a:off x="0" y="154750"/>
            <a:ext cx="7560000" cy="3600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32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36" name="Rechteck 3"/>
          <p:cNvSpPr/>
          <p:nvPr/>
        </p:nvSpPr>
        <p:spPr>
          <a:xfrm>
            <a:off x="0" y="1238250"/>
            <a:ext cx="9144000" cy="374774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37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1491629"/>
            <a:ext cx="7992442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Zweispaltige Standard-Folie mit zwei Auss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58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62" name="Rechteck 3"/>
          <p:cNvSpPr/>
          <p:nvPr/>
        </p:nvSpPr>
        <p:spPr>
          <a:xfrm>
            <a:off x="0" y="1238250"/>
            <a:ext cx="9144000" cy="374774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39999" y="1491629"/>
            <a:ext cx="3726002" cy="18000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/>
            </a:lvl1pPr>
            <a:lvl2pPr marL="609584" indent="-152395">
              <a:lnSpc>
                <a:spcPct val="100000"/>
              </a:lnSpc>
              <a:spcBef>
                <a:spcPts val="0"/>
              </a:spcBef>
              <a:defRPr sz="1600" b="1"/>
            </a:lvl2pPr>
            <a:lvl3pPr marL="1097252" indent="-182875">
              <a:lnSpc>
                <a:spcPct val="100000"/>
              </a:lnSpc>
              <a:spcBef>
                <a:spcPts val="0"/>
              </a:spcBef>
              <a:defRPr sz="1600" b="1"/>
            </a:lvl3pPr>
            <a:lvl4pPr marL="1574760" indent="-203194">
              <a:lnSpc>
                <a:spcPct val="100000"/>
              </a:lnSpc>
              <a:spcBef>
                <a:spcPts val="0"/>
              </a:spcBef>
              <a:defRPr sz="1600" b="1"/>
            </a:lvl4pPr>
            <a:lvl5pPr marL="2031949" indent="-203194">
              <a:lnSpc>
                <a:spcPct val="100000"/>
              </a:lnSpc>
              <a:spcBef>
                <a:spcPts val="0"/>
              </a:spcBef>
              <a:defRPr sz="1600" b="1"/>
            </a:lvl5pPr>
          </a:lstStyle>
          <a:p>
            <a:r>
              <a:t>Aussage 1: Arial Fett 16pt.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Textplatzhalter 16"/>
          <p:cNvSpPr>
            <a:spLocks noGrp="1"/>
          </p:cNvSpPr>
          <p:nvPr>
            <p:ph type="body" sz="half" idx="21" hasCustomPrompt="1"/>
          </p:nvPr>
        </p:nvSpPr>
        <p:spPr>
          <a:xfrm>
            <a:off x="539999" y="1761630"/>
            <a:ext cx="3726002" cy="30423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/>
            </a:lvl1pPr>
          </a:lstStyle>
          <a:p>
            <a:r>
              <a:t>Fliesstext 1: Arial 16pt.</a:t>
            </a:r>
          </a:p>
        </p:txBody>
      </p:sp>
      <p:sp>
        <p:nvSpPr>
          <p:cNvPr id="65" name="Textplatzhalter 16"/>
          <p:cNvSpPr>
            <a:spLocks noGrp="1"/>
          </p:cNvSpPr>
          <p:nvPr>
            <p:ph type="body" sz="quarter" idx="22" hasCustomPrompt="1"/>
          </p:nvPr>
        </p:nvSpPr>
        <p:spPr>
          <a:xfrm>
            <a:off x="4877999" y="1491629"/>
            <a:ext cx="3726002" cy="18000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defTabSz="722357">
              <a:lnSpc>
                <a:spcPct val="100000"/>
              </a:lnSpc>
              <a:spcBef>
                <a:spcPts val="0"/>
              </a:spcBef>
              <a:defRPr sz="1264" b="1"/>
            </a:lvl1pPr>
          </a:lstStyle>
          <a:p>
            <a:r>
              <a:t>Aussage 2: Arial Fett 16pt.</a:t>
            </a:r>
          </a:p>
        </p:txBody>
      </p:sp>
      <p:sp>
        <p:nvSpPr>
          <p:cNvPr id="66" name="Textplatzhalter 16"/>
          <p:cNvSpPr>
            <a:spLocks noGrp="1"/>
          </p:cNvSpPr>
          <p:nvPr>
            <p:ph type="body" sz="half" idx="23" hasCustomPrompt="1"/>
          </p:nvPr>
        </p:nvSpPr>
        <p:spPr>
          <a:xfrm>
            <a:off x="4877999" y="1761630"/>
            <a:ext cx="3726002" cy="30423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/>
            </a:lvl1pPr>
          </a:lstStyle>
          <a:p>
            <a:r>
              <a:t>Fliesstext 2: Arial 16pt.</a:t>
            </a:r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74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77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78" name="Rechteck 3"/>
          <p:cNvSpPr/>
          <p:nvPr/>
        </p:nvSpPr>
        <p:spPr>
          <a:xfrm>
            <a:off x="-1" y="1238250"/>
            <a:ext cx="6876258" cy="374774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79" name="Rechteck 5"/>
          <p:cNvSpPr/>
          <p:nvPr/>
        </p:nvSpPr>
        <p:spPr>
          <a:xfrm>
            <a:off x="6876256" y="1238250"/>
            <a:ext cx="2267745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8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1491629"/>
            <a:ext cx="6192241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88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92" name="Rechteck 3"/>
          <p:cNvSpPr/>
          <p:nvPr/>
        </p:nvSpPr>
        <p:spPr>
          <a:xfrm>
            <a:off x="0" y="1238250"/>
            <a:ext cx="5652000" cy="374774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93" name="Rechteck 5"/>
          <p:cNvSpPr/>
          <p:nvPr/>
        </p:nvSpPr>
        <p:spPr>
          <a:xfrm>
            <a:off x="5651999" y="1238250"/>
            <a:ext cx="3492001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94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39999" y="1491629"/>
            <a:ext cx="4968106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02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05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06" name="Rechteck 3"/>
          <p:cNvSpPr/>
          <p:nvPr/>
        </p:nvSpPr>
        <p:spPr>
          <a:xfrm>
            <a:off x="0" y="1238250"/>
            <a:ext cx="4572000" cy="374774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07" name="Rechteck 5"/>
          <p:cNvSpPr/>
          <p:nvPr/>
        </p:nvSpPr>
        <p:spPr>
          <a:xfrm>
            <a:off x="4572000" y="1238250"/>
            <a:ext cx="4572000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0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39999" y="1491629"/>
            <a:ext cx="3959993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16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19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20" name="Rechteck 5"/>
          <p:cNvSpPr/>
          <p:nvPr/>
        </p:nvSpPr>
        <p:spPr>
          <a:xfrm>
            <a:off x="3275855" y="1238250"/>
            <a:ext cx="5868145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21" name="Rechteck 3"/>
          <p:cNvSpPr/>
          <p:nvPr/>
        </p:nvSpPr>
        <p:spPr>
          <a:xfrm>
            <a:off x="-2" y="1238250"/>
            <a:ext cx="3471833" cy="374774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2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39999" y="1491629"/>
            <a:ext cx="2735858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5113" indent="-258763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reite Grafi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30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33" name="Rechteck 5"/>
          <p:cNvSpPr/>
          <p:nvPr/>
        </p:nvSpPr>
        <p:spPr>
          <a:xfrm>
            <a:off x="0" y="3219823"/>
            <a:ext cx="9144000" cy="179005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34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35" name="Rechteck 3"/>
          <p:cNvSpPr/>
          <p:nvPr/>
        </p:nvSpPr>
        <p:spPr>
          <a:xfrm>
            <a:off x="0" y="1238250"/>
            <a:ext cx="9144000" cy="1981574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39999" y="1491631"/>
            <a:ext cx="7992442" cy="158417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reite Grafi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44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47" name="Rechteck 5"/>
          <p:cNvSpPr/>
          <p:nvPr/>
        </p:nvSpPr>
        <p:spPr>
          <a:xfrm>
            <a:off x="0" y="3977259"/>
            <a:ext cx="9144000" cy="103262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48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49" name="Rechteck 3"/>
          <p:cNvSpPr/>
          <p:nvPr/>
        </p:nvSpPr>
        <p:spPr>
          <a:xfrm>
            <a:off x="0" y="1238249"/>
            <a:ext cx="9144000" cy="2485630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5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1491631"/>
            <a:ext cx="7992442" cy="23833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genda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58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61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2190750"/>
            <a:ext cx="7992442" cy="261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>
              <a:lnSpc>
                <a:spcPct val="100000"/>
              </a:lnSpc>
              <a:spcBef>
                <a:spcPts val="0"/>
              </a:spcBef>
              <a:buSzPct val="100000"/>
              <a:buFont typeface="Symbol"/>
              <a:buChar char="-"/>
              <a:defRPr sz="2000"/>
            </a:lvl1pPr>
            <a:lvl2pPr marL="742931" indent="-285742">
              <a:lnSpc>
                <a:spcPct val="100000"/>
              </a:lnSpc>
              <a:spcBef>
                <a:spcPts val="0"/>
              </a:spcBef>
              <a:buFont typeface="Symbol"/>
              <a:buChar char="-"/>
              <a:defRPr sz="2000"/>
            </a:lvl2pPr>
            <a:lvl3pPr marL="1200119" indent="-285742">
              <a:lnSpc>
                <a:spcPct val="100000"/>
              </a:lnSpc>
              <a:spcBef>
                <a:spcPts val="0"/>
              </a:spcBef>
              <a:buFont typeface="Symbol"/>
              <a:buChar char="-"/>
              <a:defRPr sz="2000"/>
            </a:lvl3pPr>
            <a:lvl4pPr marL="1657308" indent="-285742">
              <a:lnSpc>
                <a:spcPct val="100000"/>
              </a:lnSpc>
              <a:spcBef>
                <a:spcPts val="0"/>
              </a:spcBef>
              <a:buFont typeface="Symbol"/>
              <a:buChar char="-"/>
              <a:defRPr sz="2000"/>
            </a:lvl4pPr>
            <a:lvl5pPr marL="2114497" indent="-285742">
              <a:lnSpc>
                <a:spcPct val="100000"/>
              </a:lnSpc>
              <a:spcBef>
                <a:spcPts val="0"/>
              </a:spcBef>
              <a:buFont typeface="Symbol"/>
              <a:buChar char="·"/>
              <a:defRPr sz="2000"/>
            </a:lvl5pPr>
          </a:lstStyle>
          <a:p>
            <a:r>
              <a:rPr dirty="0"/>
              <a:t>1. Ebene 20pt.</a:t>
            </a:r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sp>
        <p:nvSpPr>
          <p:cNvPr id="162" name="Titel A (Arial 28pt., rot, max. 1 Zeile)"/>
          <p:cNvSpPr txBox="1">
            <a:spLocks noGrp="1"/>
          </p:cNvSpPr>
          <p:nvPr>
            <p:ph type="title" hasCustomPrompt="1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Titel A (Arial 28pt., rot, max. 1 Zeile) </a:t>
            </a:r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hr grosse 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70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73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74" name="Rechteck 3"/>
          <p:cNvSpPr/>
          <p:nvPr/>
        </p:nvSpPr>
        <p:spPr>
          <a:xfrm>
            <a:off x="0" y="1238250"/>
            <a:ext cx="9144000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Wei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89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91" name="Textplatzhalter 21"/>
          <p:cNvSpPr txBox="1"/>
          <p:nvPr/>
        </p:nvSpPr>
        <p:spPr>
          <a:xfrm>
            <a:off x="539999" y="280800"/>
            <a:ext cx="702000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914377">
              <a:lnSpc>
                <a:spcPct val="90000"/>
              </a:lnSpc>
              <a:defRPr sz="1200" spc="-1"/>
            </a:lvl1pPr>
          </a:lstStyle>
          <a:p>
            <a:r>
              <a:t>Gruppe [Nummer]: [eigenes Thema]</a:t>
            </a:r>
          </a:p>
        </p:txBody>
      </p:sp>
      <p:sp>
        <p:nvSpPr>
          <p:cNvPr id="192" name="Rechteck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 dirty="0"/>
          </a:p>
        </p:txBody>
      </p:sp>
      <p:pic>
        <p:nvPicPr>
          <p:cNvPr id="3" name="Bild 5" descr="Bild 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33400" y="5000624"/>
            <a:ext cx="127000" cy="1270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>
              <a:defRPr sz="800"/>
            </a:lvl1pPr>
          </a:lstStyle>
          <a:p>
            <a:fld id="{86CB4B4D-7CA3-9044-876B-883B54F8677D}" type="slidenum">
              <a:t>‹Nr.›</a:t>
            </a:fld>
            <a:endParaRPr dirty="0"/>
          </a:p>
        </p:txBody>
      </p:sp>
      <p:sp>
        <p:nvSpPr>
          <p:cNvPr id="5" name="Textplatzhalter 21"/>
          <p:cNvSpPr txBox="1"/>
          <p:nvPr/>
        </p:nvSpPr>
        <p:spPr>
          <a:xfrm>
            <a:off x="539999" y="280800"/>
            <a:ext cx="702000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914377">
              <a:lnSpc>
                <a:spcPct val="90000"/>
              </a:lnSpc>
              <a:defRPr sz="1200" spc="-1"/>
            </a:lvl1pPr>
          </a:lstStyle>
          <a:p>
            <a:r>
              <a:rPr dirty="0"/>
              <a:t>Gruppe [Nummer]: [</a:t>
            </a:r>
            <a:r>
              <a:rPr dirty="0" err="1"/>
              <a:t>eigenes</a:t>
            </a:r>
            <a:r>
              <a:rPr dirty="0"/>
              <a:t> Thema]</a:t>
            </a:r>
          </a:p>
        </p:txBody>
      </p:sp>
      <p:sp>
        <p:nvSpPr>
          <p:cNvPr id="6" name="Rechteck 3"/>
          <p:cNvSpPr/>
          <p:nvPr/>
        </p:nvSpPr>
        <p:spPr>
          <a:xfrm>
            <a:off x="0" y="0"/>
            <a:ext cx="9144000" cy="498599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7" name="Title Text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994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  <p:transition spd="med"/>
  <p:txStyles>
    <p:titleStyle>
      <a:lvl1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881" marR="0" indent="-266692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08" marR="0" indent="-320031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156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345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533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722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5910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099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platzhalter 2"/>
          <p:cNvSpPr txBox="1">
            <a:spLocks noGrp="1"/>
          </p:cNvSpPr>
          <p:nvPr>
            <p:ph type="body" sz="quarter" idx="1"/>
          </p:nvPr>
        </p:nvSpPr>
        <p:spPr>
          <a:xfrm>
            <a:off x="539999" y="1169999"/>
            <a:ext cx="7776418" cy="820739"/>
          </a:xfrm>
          <a:prstGeom prst="rect">
            <a:avLst/>
          </a:prstGeom>
          <a:noFill/>
        </p:spPr>
        <p:txBody>
          <a:bodyPr/>
          <a:lstStyle>
            <a:lvl1pPr>
              <a:lnSpc>
                <a:spcPts val="3200"/>
              </a:lnSpc>
              <a:spcBef>
                <a:spcPts val="0"/>
              </a:spcBef>
              <a:defRPr sz="2800"/>
            </a:lvl1pPr>
          </a:lstStyle>
          <a:p>
            <a:r>
              <a:rPr lang="en-GB" noProof="0" dirty="0"/>
              <a:t>TPL Detection on Android Apps: Related Work Research</a:t>
            </a:r>
          </a:p>
        </p:txBody>
      </p:sp>
      <p:sp>
        <p:nvSpPr>
          <p:cNvPr id="203" name="Textplatzhalter 16"/>
          <p:cNvSpPr>
            <a:spLocks noGrp="1"/>
          </p:cNvSpPr>
          <p:nvPr>
            <p:ph type="body" idx="22"/>
          </p:nvPr>
        </p:nvSpPr>
        <p:spPr>
          <a:xfrm>
            <a:off x="539999" y="2159999"/>
            <a:ext cx="4104010" cy="843799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pPr>
              <a:spcBef>
                <a:spcPts val="1200"/>
              </a:spcBef>
              <a:defRPr b="0"/>
            </a:pPr>
            <a:r>
              <a:rPr lang="en-GB" noProof="0" dirty="0"/>
              <a:t>28.05.2026</a:t>
            </a:r>
          </a:p>
        </p:txBody>
      </p:sp>
      <p:sp>
        <p:nvSpPr>
          <p:cNvPr id="204" name="Textplatzhalter 18"/>
          <p:cNvSpPr>
            <a:spLocks noGrp="1"/>
          </p:cNvSpPr>
          <p:nvPr>
            <p:ph type="body" idx="23"/>
          </p:nvPr>
        </p:nvSpPr>
        <p:spPr>
          <a:xfrm>
            <a:off x="539999" y="3237800"/>
            <a:ext cx="3726002" cy="15322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/>
          </a:bodyPr>
          <a:lstStyle/>
          <a:p>
            <a:pPr defTabSz="868658">
              <a:defRPr sz="1520" b="1"/>
            </a:pPr>
            <a:r>
              <a:rPr lang="en-GB" noProof="0" dirty="0"/>
              <a:t>Tim Jordi</a:t>
            </a:r>
          </a:p>
          <a:p>
            <a:pPr defTabSz="868658">
              <a:defRPr sz="1520" b="1"/>
            </a:pPr>
            <a:endParaRPr lang="en-GB" noProof="0" dirty="0"/>
          </a:p>
          <a:p>
            <a:pPr defTabSz="868658">
              <a:defRPr sz="1520" b="1"/>
            </a:pPr>
            <a:endParaRPr lang="en-GB" noProof="0" dirty="0"/>
          </a:p>
          <a:p>
            <a:pPr defTabSz="868658">
              <a:defRPr sz="1520"/>
            </a:pPr>
            <a:r>
              <a:rPr lang="en-GB" noProof="0" dirty="0"/>
              <a:t>Software Engineering Group</a:t>
            </a:r>
          </a:p>
          <a:p>
            <a:pPr defTabSz="868658">
              <a:defRPr sz="1520"/>
            </a:pPr>
            <a:r>
              <a:rPr lang="en-GB" noProof="0" dirty="0"/>
              <a:t>Institute of Computer Science</a:t>
            </a:r>
          </a:p>
          <a:p>
            <a:r>
              <a:rPr lang="en-GB" noProof="0" dirty="0"/>
              <a:t>University of Bern</a:t>
            </a:r>
          </a:p>
        </p:txBody>
      </p:sp>
      <p:sp>
        <p:nvSpPr>
          <p:cNvPr id="205" name="Titel 7"/>
          <p:cNvSpPr txBox="1">
            <a:spLocks noGrp="1"/>
          </p:cNvSpPr>
          <p:nvPr>
            <p:ph type="title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Seminar Software Engineering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Foliennummernplatzhalter 5"/>
          <p:cNvSpPr txBox="1">
            <a:spLocks noGrp="1"/>
          </p:cNvSpPr>
          <p:nvPr>
            <p:ph type="sldNum" sz="quarter" idx="2"/>
          </p:nvPr>
        </p:nvSpPr>
        <p:spPr>
          <a:xfrm>
            <a:off x="540275" y="5002569"/>
            <a:ext cx="65" cy="12311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endParaRPr lang="en-GB" noProof="0" dirty="0"/>
          </a:p>
        </p:txBody>
      </p:sp>
      <p:sp>
        <p:nvSpPr>
          <p:cNvPr id="211" name="Textplatzhalter 3"/>
          <p:cNvSpPr txBox="1">
            <a:spLocks noGrp="1"/>
          </p:cNvSpPr>
          <p:nvPr>
            <p:ph type="body" idx="1"/>
          </p:nvPr>
        </p:nvSpPr>
        <p:spPr>
          <a:xfrm>
            <a:off x="539999" y="2190750"/>
            <a:ext cx="7992441" cy="2610000"/>
          </a:xfrm>
          <a:prstGeom prst="rect">
            <a:avLst/>
          </a:prstGeom>
        </p:spPr>
        <p:txBody>
          <a:bodyPr/>
          <a:lstStyle/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Background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Introduction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TPL Detection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Benchmarking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dirty="0"/>
              <a:t>Results</a:t>
            </a:r>
            <a:endParaRPr lang="en-GB" noProof="0" dirty="0"/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dirty="0"/>
              <a:t>Conclusion</a:t>
            </a:r>
            <a:endParaRPr lang="en-GB" noProof="0" dirty="0"/>
          </a:p>
        </p:txBody>
      </p:sp>
      <p:sp>
        <p:nvSpPr>
          <p:cNvPr id="212" name="Titel 6"/>
          <p:cNvSpPr txBox="1">
            <a:spLocks noGrp="1"/>
          </p:cNvSpPr>
          <p:nvPr>
            <p:ph type="title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Outline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3</a:t>
            </a:fld>
            <a:endParaRPr lang="en-GB" noProof="0" dirty="0"/>
          </a:p>
        </p:txBody>
      </p:sp>
      <p:sp>
        <p:nvSpPr>
          <p:cNvPr id="218" name="Titel 5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Background</a:t>
            </a:r>
          </a:p>
        </p:txBody>
      </p:sp>
      <p:sp>
        <p:nvSpPr>
          <p:cNvPr id="219" name="Inhaltsplatzhalter 6"/>
          <p:cNvSpPr txBox="1">
            <a:spLocks noGrp="1"/>
          </p:cNvSpPr>
          <p:nvPr>
            <p:ph type="body" sz="half" idx="1"/>
          </p:nvPr>
        </p:nvSpPr>
        <p:spPr>
          <a:xfrm>
            <a:off x="539999" y="1491629"/>
            <a:ext cx="4968106" cy="3266371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Bachelors Thesis: Building a Ground-Truth Dataset of Android Hybrid Applications and Their Third-Party Libraries</a:t>
            </a:r>
          </a:p>
          <a:p>
            <a:r>
              <a:rPr lang="en-GB" noProof="0" dirty="0"/>
              <a:t>Building Pipeline</a:t>
            </a:r>
          </a:p>
          <a:p>
            <a:r>
              <a:rPr lang="en-GB" noProof="0" dirty="0"/>
              <a:t>Hybrid Frameworks (Flutter, Apache Cordova, React Native,…)</a:t>
            </a:r>
          </a:p>
          <a:p>
            <a:r>
              <a:rPr lang="en-GB" noProof="0" dirty="0"/>
              <a:t>Goal: Ground Truth Dataset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223" name="Rechteck 2"/>
          <p:cNvSpPr txBox="1"/>
          <p:nvPr/>
        </p:nvSpPr>
        <p:spPr>
          <a:xfrm>
            <a:off x="990649" y="5002567"/>
            <a:ext cx="5964774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1: https://avatars.githubusercontent.com/u/14101776?s=280&amp;v=4, 25.05.26; 2: https://de.wikipedia.org/wiki/React_Native, 25.05.26 </a:t>
            </a:r>
          </a:p>
        </p:txBody>
      </p:sp>
      <p:pic>
        <p:nvPicPr>
          <p:cNvPr id="1026" name="Picture 2" descr="Flutter · GitHub">
            <a:extLst>
              <a:ext uri="{FF2B5EF4-FFF2-40B4-BE49-F238E27FC236}">
                <a16:creationId xmlns:a16="http://schemas.microsoft.com/office/drawing/2014/main" id="{1E360B14-D4C8-CD02-0E54-014D2DC37A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9718" y="3396342"/>
            <a:ext cx="1604281" cy="1604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act Native – Wikipedia">
            <a:extLst>
              <a:ext uri="{FF2B5EF4-FFF2-40B4-BE49-F238E27FC236}">
                <a16:creationId xmlns:a16="http://schemas.microsoft.com/office/drawing/2014/main" id="{E6BB07F2-D070-31AE-859F-8B1595477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2430" y="1246393"/>
            <a:ext cx="2295525" cy="199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226" name="Titel 5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Introduction</a:t>
            </a:r>
          </a:p>
        </p:txBody>
      </p:sp>
      <p:sp>
        <p:nvSpPr>
          <p:cNvPr id="227" name="Inhaltsplatzhalter 6"/>
          <p:cNvSpPr txBox="1">
            <a:spLocks noGrp="1"/>
          </p:cNvSpPr>
          <p:nvPr>
            <p:ph type="body" sz="half" idx="1"/>
          </p:nvPr>
        </p:nvSpPr>
        <p:spPr>
          <a:xfrm>
            <a:off x="539999" y="1491629"/>
            <a:ext cx="4968106" cy="3266371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Libraries become more important</a:t>
            </a:r>
          </a:p>
          <a:p>
            <a:r>
              <a:rPr lang="en-GB" noProof="0" dirty="0"/>
              <a:t>Security risks</a:t>
            </a:r>
          </a:p>
          <a:p>
            <a:r>
              <a:rPr lang="en-GB" noProof="0" dirty="0"/>
              <a:t>Vulnerabilities</a:t>
            </a:r>
          </a:p>
          <a:p>
            <a:r>
              <a:rPr lang="en-GB" noProof="0" dirty="0"/>
              <a:t>Interest in knowing libraries</a:t>
            </a:r>
          </a:p>
          <a:p>
            <a:r>
              <a:rPr lang="en-GB" noProof="0" dirty="0"/>
              <a:t>Open-source vs. proprietary apps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231" name="Rechteck 2"/>
          <p:cNvSpPr txBox="1"/>
          <p:nvPr/>
        </p:nvSpPr>
        <p:spPr>
          <a:xfrm>
            <a:off x="990649" y="5002567"/>
            <a:ext cx="2377254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https://www.privacyguides.org/en/android/, 25.05.26</a:t>
            </a:r>
          </a:p>
        </p:txBody>
      </p:sp>
      <p:pic>
        <p:nvPicPr>
          <p:cNvPr id="2050" name="Picture 2" descr="Android - Privacy Guides">
            <a:extLst>
              <a:ext uri="{FF2B5EF4-FFF2-40B4-BE49-F238E27FC236}">
                <a16:creationId xmlns:a16="http://schemas.microsoft.com/office/drawing/2014/main" id="{DEEE15ED-44D3-BC8D-2E28-EFEB3C4E7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8342" y="2062533"/>
            <a:ext cx="1971675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237" name="Titel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TPL Detection</a:t>
            </a:r>
          </a:p>
        </p:txBody>
      </p:sp>
      <p:sp>
        <p:nvSpPr>
          <p:cNvPr id="238" name="Inhaltsplatzhalter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Recent research topic</a:t>
            </a:r>
          </a:p>
          <a:p>
            <a:r>
              <a:rPr lang="en-GB" noProof="0" dirty="0"/>
              <a:t>3 Categories: learning-based, similarity-based and clustering-based</a:t>
            </a:r>
          </a:p>
          <a:p>
            <a:r>
              <a:rPr lang="en-GB" noProof="0" dirty="0"/>
              <a:t>Many different approaches</a:t>
            </a:r>
          </a:p>
          <a:p>
            <a:r>
              <a:rPr lang="en-GB" noProof="0" dirty="0"/>
              <a:t>Same goal</a:t>
            </a:r>
          </a:p>
          <a:p>
            <a:endParaRPr lang="en-GB" noProof="0" dirty="0"/>
          </a:p>
        </p:txBody>
      </p:sp>
      <p:sp>
        <p:nvSpPr>
          <p:cNvPr id="239" name="Rechteck 2"/>
          <p:cNvSpPr txBox="1"/>
          <p:nvPr/>
        </p:nvSpPr>
        <p:spPr>
          <a:xfrm>
            <a:off x="955138" y="5000624"/>
            <a:ext cx="5516683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Zhou et al : Version-level third-party library detection in android applications via class structural similarity, 2025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96F86-DE8C-D53D-6A9B-9D8CAD3C9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Clustering-based Detection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85BDDE-FC19-30AE-F51A-0767894CD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GB" noProof="0" dirty="0"/>
              <a:t>Extract Features (relationships, hierarchy, signatures)</a:t>
            </a:r>
          </a:p>
          <a:p>
            <a:pPr>
              <a:buFontTx/>
              <a:buChar char="-"/>
            </a:pPr>
            <a:r>
              <a:rPr lang="en-GB" noProof="0" dirty="0"/>
              <a:t>Hash </a:t>
            </a:r>
          </a:p>
          <a:p>
            <a:pPr>
              <a:buFontTx/>
              <a:buChar char="-"/>
            </a:pPr>
            <a:r>
              <a:rPr lang="en-GB" noProof="0" dirty="0"/>
              <a:t>Cluster on apps</a:t>
            </a:r>
          </a:p>
          <a:p>
            <a:pPr>
              <a:buFontTx/>
              <a:buChar char="-"/>
            </a:pPr>
            <a:r>
              <a:rPr lang="en-GB" noProof="0" dirty="0"/>
              <a:t>Label Clusters</a:t>
            </a:r>
          </a:p>
          <a:p>
            <a:pPr>
              <a:buFontTx/>
              <a:buChar char="-"/>
            </a:pPr>
            <a:r>
              <a:rPr lang="en-GB" noProof="0" dirty="0"/>
              <a:t>Compare Fingerprints</a:t>
            </a:r>
          </a:p>
          <a:p>
            <a:pPr>
              <a:buFontTx/>
              <a:buChar char="-"/>
            </a:pPr>
            <a:r>
              <a:rPr lang="en-GB" noProof="0" dirty="0"/>
              <a:t>No Database needed</a:t>
            </a:r>
          </a:p>
          <a:p>
            <a:pPr>
              <a:buFontTx/>
              <a:buChar char="-"/>
            </a:pPr>
            <a:r>
              <a:rPr lang="en-GB" noProof="0" dirty="0"/>
              <a:t>Faster after clustering, less accurate</a:t>
            </a:r>
          </a:p>
          <a:p>
            <a:pPr>
              <a:buFontTx/>
              <a:buChar char="-"/>
            </a:pPr>
            <a:r>
              <a:rPr lang="en-GB" noProof="0" dirty="0" err="1"/>
              <a:t>LibRadar</a:t>
            </a:r>
            <a:r>
              <a:rPr lang="en-GB" noProof="0" dirty="0"/>
              <a:t>, </a:t>
            </a:r>
            <a:r>
              <a:rPr lang="en-GB" noProof="0" dirty="0" err="1"/>
              <a:t>LibD</a:t>
            </a:r>
            <a:endParaRPr lang="en-GB" noProof="0" dirty="0"/>
          </a:p>
          <a:p>
            <a:pPr>
              <a:buFontTx/>
              <a:buChar char="-"/>
            </a:pPr>
            <a:endParaRPr lang="en-GB" noProof="0" dirty="0"/>
          </a:p>
        </p:txBody>
      </p:sp>
      <p:sp>
        <p:nvSpPr>
          <p:cNvPr id="7" name="Rechteck 2">
            <a:extLst>
              <a:ext uri="{FF2B5EF4-FFF2-40B4-BE49-F238E27FC236}">
                <a16:creationId xmlns:a16="http://schemas.microsoft.com/office/drawing/2014/main" id="{4B243EE4-1F38-7031-273F-20E9E88EC1E9}"/>
              </a:ext>
            </a:extLst>
          </p:cNvPr>
          <p:cNvSpPr txBox="1"/>
          <p:nvPr/>
        </p:nvSpPr>
        <p:spPr>
          <a:xfrm>
            <a:off x="955138" y="5000624"/>
            <a:ext cx="5516683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Zhang et al. : </a:t>
            </a:r>
            <a:r>
              <a:rPr lang="en-US" dirty="0"/>
              <a:t>Obfuscation-resilient detection of Android third-party libraries using multi-scale code dependency fusion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72124072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24D6FC-1DB7-E084-2BD2-88A7729B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Similarity-based Detection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69624F-879D-E669-2B6A-9A7EA31E1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GB" noProof="0" dirty="0"/>
              <a:t>Build profile from Library</a:t>
            </a:r>
          </a:p>
          <a:p>
            <a:pPr>
              <a:buFontTx/>
              <a:buChar char="-"/>
            </a:pPr>
            <a:r>
              <a:rPr lang="en-GB" noProof="0" dirty="0"/>
              <a:t>Build profile from App</a:t>
            </a:r>
          </a:p>
          <a:p>
            <a:pPr>
              <a:buFontTx/>
              <a:buChar char="-"/>
            </a:pPr>
            <a:r>
              <a:rPr lang="en-GB" noProof="0" dirty="0"/>
              <a:t>Compare with probability</a:t>
            </a:r>
          </a:p>
          <a:p>
            <a:pPr>
              <a:buFontTx/>
              <a:buChar char="-"/>
            </a:pPr>
            <a:r>
              <a:rPr lang="en-GB" noProof="0" dirty="0"/>
              <a:t>Profile consist of class hierarchy, fuzzy hashes of bytecode, Control Flow Graphs, Class dependency signatures…</a:t>
            </a:r>
          </a:p>
          <a:p>
            <a:pPr>
              <a:buFontTx/>
              <a:buChar char="-"/>
            </a:pPr>
            <a:r>
              <a:rPr lang="en-GB" noProof="0" dirty="0"/>
              <a:t>Prone to obfuscation</a:t>
            </a:r>
          </a:p>
          <a:p>
            <a:pPr>
              <a:buFontTx/>
              <a:buChar char="-"/>
            </a:pPr>
            <a:r>
              <a:rPr lang="en-GB" noProof="0" dirty="0"/>
              <a:t>More accurate, but usually slower</a:t>
            </a:r>
          </a:p>
          <a:p>
            <a:pPr>
              <a:buFontTx/>
              <a:buChar char="-"/>
            </a:pPr>
            <a:r>
              <a:rPr lang="en-GB" noProof="0" dirty="0" err="1"/>
              <a:t>LibScout</a:t>
            </a:r>
            <a:r>
              <a:rPr lang="en-GB" noProof="0" dirty="0"/>
              <a:t>, ORLIS, </a:t>
            </a:r>
            <a:r>
              <a:rPr lang="en-GB" noProof="0" dirty="0" err="1"/>
              <a:t>LibPecker</a:t>
            </a:r>
            <a:endParaRPr lang="en-GB" noProof="0" dirty="0"/>
          </a:p>
          <a:p>
            <a:pPr>
              <a:buFontTx/>
              <a:buChar char="-"/>
            </a:pPr>
            <a:endParaRPr lang="en-GB" noProof="0" dirty="0"/>
          </a:p>
          <a:p>
            <a:pPr>
              <a:buFontTx/>
              <a:buChar char="-"/>
            </a:pPr>
            <a:endParaRPr lang="en-GB" noProof="0" dirty="0"/>
          </a:p>
        </p:txBody>
      </p:sp>
      <p:sp>
        <p:nvSpPr>
          <p:cNvPr id="7" name="Rechteck 2">
            <a:extLst>
              <a:ext uri="{FF2B5EF4-FFF2-40B4-BE49-F238E27FC236}">
                <a16:creationId xmlns:a16="http://schemas.microsoft.com/office/drawing/2014/main" id="{8B259E80-764E-08C9-1206-E488BD4CED2F}"/>
              </a:ext>
            </a:extLst>
          </p:cNvPr>
          <p:cNvSpPr txBox="1"/>
          <p:nvPr/>
        </p:nvSpPr>
        <p:spPr>
          <a:xfrm>
            <a:off x="502379" y="4989250"/>
            <a:ext cx="6466592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Wu et al: </a:t>
            </a:r>
            <a:r>
              <a:rPr lang="en-US" dirty="0" err="1"/>
              <a:t>LibScan</a:t>
            </a:r>
            <a:r>
              <a:rPr lang="en-US" dirty="0"/>
              <a:t>: Towards More Precise Third-Party Library Identification for Android Applications, 2023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047920506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BF0903-937F-DA4F-B55B-04633D576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Learning-based Detection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F4C04A-85DE-8DD8-5A52-A71B955525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Language Model</a:t>
            </a:r>
          </a:p>
          <a:p>
            <a:r>
              <a:rPr lang="en-GB" noProof="0" dirty="0"/>
              <a:t>Pretrained on unlabelled data</a:t>
            </a:r>
          </a:p>
          <a:p>
            <a:r>
              <a:rPr lang="en-GB" dirty="0"/>
              <a:t>Hard to find data set</a:t>
            </a:r>
            <a:endParaRPr lang="en-GB" noProof="0" dirty="0"/>
          </a:p>
          <a:p>
            <a:r>
              <a:rPr lang="en-GB" noProof="0" dirty="0" err="1"/>
              <a:t>LibAttention</a:t>
            </a:r>
            <a:endParaRPr lang="en-GB" noProof="0" dirty="0"/>
          </a:p>
        </p:txBody>
      </p:sp>
      <p:sp>
        <p:nvSpPr>
          <p:cNvPr id="4" name="Rechteck 4">
            <a:extLst>
              <a:ext uri="{FF2B5EF4-FFF2-40B4-BE49-F238E27FC236}">
                <a16:creationId xmlns:a16="http://schemas.microsoft.com/office/drawing/2014/main" id="{1C4B04A5-F05F-0D9E-859D-E1CE40CEB33E}"/>
              </a:ext>
            </a:extLst>
          </p:cNvPr>
          <p:cNvSpPr txBox="1"/>
          <p:nvPr/>
        </p:nvSpPr>
        <p:spPr>
          <a:xfrm>
            <a:off x="990648" y="5007008"/>
            <a:ext cx="8082331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US" dirty="0"/>
              <a:t>Pan et al: Pay Your Attention on Lib! Android Third-Party Library Detection via Feature Language Model, 2025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67760648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250" name="Titel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Benchmarking</a:t>
            </a:r>
          </a:p>
        </p:txBody>
      </p:sp>
      <p:sp>
        <p:nvSpPr>
          <p:cNvPr id="251" name="Inhaltsplatzhalter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Only one independent benchmark (2025)</a:t>
            </a:r>
          </a:p>
          <a:p>
            <a:r>
              <a:rPr lang="en-GB" noProof="0" dirty="0"/>
              <a:t>Find APKs on GitHub &amp; F-Droid</a:t>
            </a:r>
          </a:p>
          <a:p>
            <a:r>
              <a:rPr lang="en-GB" noProof="0" dirty="0"/>
              <a:t>Extract TPLs</a:t>
            </a:r>
          </a:p>
          <a:p>
            <a:r>
              <a:rPr lang="en-GB" noProof="0" dirty="0"/>
              <a:t>Test selected tools</a:t>
            </a:r>
          </a:p>
          <a:p>
            <a:r>
              <a:rPr lang="en-GB" noProof="0" dirty="0"/>
              <a:t>Hybrid Frameworks excluded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252" name="Rechteck 4"/>
          <p:cNvSpPr txBox="1"/>
          <p:nvPr/>
        </p:nvSpPr>
        <p:spPr>
          <a:xfrm>
            <a:off x="990648" y="5007008"/>
            <a:ext cx="8082331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Gu et al. : Revisiting Third-Party Library Detection: A Ground Truth Dataset and Its Implications Across Security Tasks, 2025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D6814B-2D04-1F0E-EA9F-45E769D25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Results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3FB313-EFAD-8342-8D55-1E37439BA966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27121CE-2ADE-6164-5EEE-3A298CCF0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8995"/>
            <a:ext cx="9144000" cy="378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385790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22AE0A-897B-16D9-DF86-8DDF04FEB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F95789-0767-DE5A-8BD5-A53767EB0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Papers overrate their tools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AF21EC-B3D6-8A5D-D2FB-C3BEE5698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803" y="3044355"/>
            <a:ext cx="6039693" cy="182905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486D772-1629-E6C6-0F2D-4907051B6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4" y="3044355"/>
            <a:ext cx="2737023" cy="174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906427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itel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Conclusion</a:t>
            </a:r>
          </a:p>
        </p:txBody>
      </p:sp>
      <p:sp>
        <p:nvSpPr>
          <p:cNvPr id="280" name="Inhaltsplatzhalter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More (independent) benchmarking necessary</a:t>
            </a:r>
          </a:p>
          <a:p>
            <a:r>
              <a:rPr lang="en-GB" noProof="0" dirty="0"/>
              <a:t>Testing on hybrid frameworks missing</a:t>
            </a:r>
          </a:p>
          <a:p>
            <a:r>
              <a:rPr lang="en-GB" noProof="0" dirty="0"/>
              <a:t>Obfuscated datasets missing</a:t>
            </a:r>
          </a:p>
          <a:p>
            <a:endParaRPr lang="en-GB" noProof="0" dirty="0"/>
          </a:p>
          <a:p>
            <a:endParaRPr lang="en-GB" noProof="0"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4BA110-79EB-FC4E-CCF3-F9CDB950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Questions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6D67A2-A6D9-AA66-62E5-F7E61E793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043269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Universität Bern Vorlage">
  <a:themeElements>
    <a:clrScheme name="Universität Bern Vorlag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Universität Bern Vorlag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Universität Bern Vorlag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Universität Bern Vorlage">
  <a:themeElements>
    <a:clrScheme name="Universität Bern Vorlag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Universität Bern Vorlag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Universität Bern Vorlag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427</Words>
  <Application>Microsoft Office PowerPoint</Application>
  <PresentationFormat>Bildschirmpräsentation (16:9)</PresentationFormat>
  <Paragraphs>83</Paragraphs>
  <Slides>13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Arial</vt:lpstr>
      <vt:lpstr>Calibri</vt:lpstr>
      <vt:lpstr>Symbol</vt:lpstr>
      <vt:lpstr>Universität Bern Vorlage</vt:lpstr>
      <vt:lpstr>Seminar Software Engineering</vt:lpstr>
      <vt:lpstr>Outline</vt:lpstr>
      <vt:lpstr>Background</vt:lpstr>
      <vt:lpstr>Introduction</vt:lpstr>
      <vt:lpstr>TPL Detection</vt:lpstr>
      <vt:lpstr>Clustering-based Detection</vt:lpstr>
      <vt:lpstr>Similarity-based Detection</vt:lpstr>
      <vt:lpstr>Learning-based Detection</vt:lpstr>
      <vt:lpstr>Benchmarking</vt:lpstr>
      <vt:lpstr>Results</vt:lpstr>
      <vt:lpstr>Comparison</vt:lpstr>
      <vt:lpstr>Conclusion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Tim Jordi</dc:creator>
  <cp:lastModifiedBy>Jordi, Tim Frederik (STUDENTS)</cp:lastModifiedBy>
  <cp:revision>10</cp:revision>
  <dcterms:modified xsi:type="dcterms:W3CDTF">2026-05-25T21:06:41Z</dcterms:modified>
</cp:coreProperties>
</file>