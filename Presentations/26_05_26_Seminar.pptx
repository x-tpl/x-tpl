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7" r:id="rId7"/>
    <p:sldId id="273" r:id="rId8"/>
    <p:sldId id="274" r:id="rId9"/>
    <p:sldId id="268" r:id="rId10"/>
    <p:sldId id="271" r:id="rId11"/>
    <p:sldId id="262" r:id="rId12"/>
    <p:sldId id="269" r:id="rId13"/>
    <p:sldId id="270" r:id="rId14"/>
    <p:sldId id="266" r:id="rId15"/>
    <p:sldId id="275" r:id="rId16"/>
    <p:sldId id="272" r:id="rId17"/>
    <p:sldId id="276" r:id="rId18"/>
    <p:sldId id="277" r:id="rId19"/>
    <p:sldId id="278" r:id="rId2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280" autoAdjust="0"/>
  </p:normalViewPr>
  <p:slideViewPr>
    <p:cSldViewPr snapToGrid="0">
      <p:cViewPr varScale="1">
        <p:scale>
          <a:sx n="84" d="100"/>
          <a:sy n="84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App Code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88-4B92-BB65-D37342C0279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D6-41FB-8562-19EF626D930C}"/>
              </c:ext>
            </c:extLst>
          </c:dPt>
          <c:cat>
            <c:strRef>
              <c:f>Tabelle1!$A$2:$A$3</c:f>
              <c:strCache>
                <c:ptCount val="2"/>
                <c:pt idx="0">
                  <c:v>Libraries</c:v>
                </c:pt>
                <c:pt idx="1">
                  <c:v>Logic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D6-41FB-8562-19EF626D93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9" name="Shape 19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06784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27217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Building Pipeline</a:t>
            </a:r>
          </a:p>
          <a:p>
            <a:r>
              <a:rPr lang="en-GB" noProof="0" dirty="0"/>
              <a:t>Hybrid Frameworks (Flutter, Apache Cordova, React Native,…)</a:t>
            </a:r>
          </a:p>
          <a:p>
            <a:r>
              <a:rPr lang="en-GB" noProof="0" dirty="0"/>
              <a:t>Goal: Ground Truth Dataset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20549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Libraries become more important</a:t>
            </a:r>
          </a:p>
          <a:p>
            <a:r>
              <a:rPr lang="en-GB" noProof="0" dirty="0"/>
              <a:t>Interest in knowing libraries</a:t>
            </a:r>
          </a:p>
          <a:p>
            <a:r>
              <a:rPr lang="en-GB" noProof="0" dirty="0"/>
              <a:t>Open-source vs. proprietary apps</a:t>
            </a:r>
            <a:endParaRPr lang="de-CH" dirty="0"/>
          </a:p>
          <a:p>
            <a:r>
              <a:rPr lang="de-CH" dirty="0"/>
              <a:t>Up </a:t>
            </a:r>
            <a:r>
              <a:rPr lang="de-CH" dirty="0" err="1"/>
              <a:t>to</a:t>
            </a:r>
            <a:r>
              <a:rPr lang="de-CH" dirty="0"/>
              <a:t> 60% </a:t>
            </a:r>
            <a:r>
              <a:rPr lang="de-CH" dirty="0" err="1"/>
              <a:t>of</a:t>
            </a:r>
            <a:r>
              <a:rPr lang="de-CH" dirty="0"/>
              <a:t> an Apps code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libraries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53349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Recent research topic</a:t>
            </a:r>
          </a:p>
          <a:p>
            <a:r>
              <a:rPr lang="en-GB" noProof="0" dirty="0"/>
              <a:t>3 Categories: learning-based, similarity-based and clustering-based</a:t>
            </a:r>
          </a:p>
          <a:p>
            <a:r>
              <a:rPr lang="en-GB" noProof="0" dirty="0"/>
              <a:t>Many different approaches</a:t>
            </a:r>
          </a:p>
          <a:p>
            <a:r>
              <a:rPr lang="en-GB" noProof="0" dirty="0"/>
              <a:t>Same goal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33765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GB" noProof="0" dirty="0"/>
              <a:t>Extract Features (relationships, hierarchy, signatures)</a:t>
            </a:r>
          </a:p>
          <a:p>
            <a:pPr>
              <a:buFontTx/>
              <a:buChar char="-"/>
            </a:pPr>
            <a:r>
              <a:rPr lang="en-GB" noProof="0" dirty="0"/>
              <a:t>Hash </a:t>
            </a:r>
          </a:p>
          <a:p>
            <a:pPr>
              <a:buFontTx/>
              <a:buChar char="-"/>
            </a:pPr>
            <a:r>
              <a:rPr lang="en-GB" noProof="0" dirty="0"/>
              <a:t>Cluster on apps</a:t>
            </a:r>
          </a:p>
          <a:p>
            <a:pPr>
              <a:buFontTx/>
              <a:buChar char="-"/>
            </a:pPr>
            <a:r>
              <a:rPr lang="en-GB" noProof="0" dirty="0"/>
              <a:t>Label Clusters</a:t>
            </a:r>
          </a:p>
          <a:p>
            <a:pPr>
              <a:buFontTx/>
              <a:buChar char="-"/>
            </a:pPr>
            <a:r>
              <a:rPr lang="en-GB" noProof="0" dirty="0"/>
              <a:t>Compare Fingerprints</a:t>
            </a:r>
          </a:p>
          <a:p>
            <a:pPr>
              <a:buFontTx/>
              <a:buChar char="-"/>
            </a:pPr>
            <a:r>
              <a:rPr lang="en-GB" noProof="0" dirty="0"/>
              <a:t>No Database needed</a:t>
            </a:r>
          </a:p>
          <a:p>
            <a:pPr>
              <a:buFontTx/>
              <a:buChar char="-"/>
            </a:pPr>
            <a:r>
              <a:rPr lang="en-GB" noProof="0" dirty="0"/>
              <a:t>Faster after clustering, less accurate</a:t>
            </a:r>
          </a:p>
          <a:p>
            <a:pPr>
              <a:buFontTx/>
              <a:buChar char="-"/>
            </a:pPr>
            <a:r>
              <a:rPr lang="en-GB" noProof="0" dirty="0" err="1"/>
              <a:t>LibRadar</a:t>
            </a:r>
            <a:r>
              <a:rPr lang="en-GB" noProof="0" dirty="0"/>
              <a:t>, </a:t>
            </a:r>
            <a:r>
              <a:rPr lang="en-GB" noProof="0" dirty="0" err="1"/>
              <a:t>LibD</a:t>
            </a:r>
            <a:endParaRPr lang="en-GB" noProof="0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05067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Similarity</a:t>
            </a:r>
            <a:r>
              <a:rPr lang="de-CH" dirty="0"/>
              <a:t> </a:t>
            </a:r>
            <a:r>
              <a:rPr lang="de-CH" dirty="0" err="1"/>
              <a:t>based</a:t>
            </a:r>
            <a:r>
              <a:rPr lang="de-CH" dirty="0"/>
              <a:t> </a:t>
            </a:r>
            <a:r>
              <a:rPr lang="de-CH" dirty="0" err="1"/>
              <a:t>hashing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09589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89321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GB" noProof="0" dirty="0"/>
              <a:t>Build profile from Library</a:t>
            </a:r>
          </a:p>
          <a:p>
            <a:pPr>
              <a:buFontTx/>
              <a:buChar char="-"/>
            </a:pPr>
            <a:r>
              <a:rPr lang="en-GB" noProof="0" dirty="0"/>
              <a:t>Build profile from App</a:t>
            </a:r>
          </a:p>
          <a:p>
            <a:pPr>
              <a:buFontTx/>
              <a:buChar char="-"/>
            </a:pPr>
            <a:r>
              <a:rPr lang="en-GB" noProof="0" dirty="0"/>
              <a:t>Compare with probability</a:t>
            </a:r>
          </a:p>
          <a:p>
            <a:pPr>
              <a:buFontTx/>
              <a:buChar char="-"/>
            </a:pPr>
            <a:r>
              <a:rPr lang="en-GB" noProof="0" dirty="0"/>
              <a:t>Profile consist of class hierarchy, fuzzy hashes of bytecode, Control Flow Graphs, Class dependency signatures…</a:t>
            </a:r>
          </a:p>
          <a:p>
            <a:pPr>
              <a:buFontTx/>
              <a:buChar char="-"/>
            </a:pPr>
            <a:r>
              <a:rPr lang="en-GB" noProof="0" dirty="0"/>
              <a:t>Prone to obfuscation</a:t>
            </a:r>
          </a:p>
          <a:p>
            <a:pPr>
              <a:buFontTx/>
              <a:buChar char="-"/>
            </a:pPr>
            <a:r>
              <a:rPr lang="en-GB" noProof="0" dirty="0"/>
              <a:t>More accurate, but usually slower</a:t>
            </a:r>
          </a:p>
          <a:p>
            <a:pPr>
              <a:buFontTx/>
              <a:buChar char="-"/>
            </a:pPr>
            <a:r>
              <a:rPr lang="en-GB" noProof="0" dirty="0" err="1"/>
              <a:t>LibScout</a:t>
            </a:r>
            <a:r>
              <a:rPr lang="en-GB" noProof="0" dirty="0"/>
              <a:t>, ORLIS, </a:t>
            </a:r>
            <a:r>
              <a:rPr lang="en-GB" noProof="0" dirty="0" err="1"/>
              <a:t>LibPecker</a:t>
            </a:r>
            <a:endParaRPr lang="en-GB" noProof="0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04977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Language Model</a:t>
            </a:r>
          </a:p>
          <a:p>
            <a:r>
              <a:rPr lang="en-GB" noProof="0" dirty="0"/>
              <a:t>Pretrained on unlabelled data</a:t>
            </a:r>
          </a:p>
          <a:p>
            <a:r>
              <a:rPr lang="en-GB" dirty="0"/>
              <a:t>Hard to find data set</a:t>
            </a:r>
            <a:endParaRPr lang="en-GB" noProof="0" dirty="0"/>
          </a:p>
          <a:p>
            <a:r>
              <a:rPr lang="en-GB" noProof="0" dirty="0" err="1"/>
              <a:t>LibAttention</a:t>
            </a:r>
            <a:endParaRPr lang="en-GB" noProof="0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43931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Sources: </a:t>
            </a:r>
            <a:r>
              <a:rPr lang="de-CH" dirty="0" err="1"/>
              <a:t>Github</a:t>
            </a:r>
            <a:r>
              <a:rPr lang="de-CH" dirty="0"/>
              <a:t>, </a:t>
            </a:r>
            <a:r>
              <a:rPr lang="de-CH" dirty="0" err="1"/>
              <a:t>Fdroid</a:t>
            </a:r>
            <a:endParaRPr lang="de-CH" dirty="0"/>
          </a:p>
          <a:p>
            <a:r>
              <a:rPr lang="en-GB" noProof="0" dirty="0"/>
              <a:t>Only one independent benchmark (2025)</a:t>
            </a:r>
          </a:p>
          <a:p>
            <a:r>
              <a:rPr lang="en-GB" noProof="0" dirty="0"/>
              <a:t>Find APKs on GitHub &amp; F-Droid</a:t>
            </a:r>
          </a:p>
          <a:p>
            <a:r>
              <a:rPr lang="en-GB" noProof="0" dirty="0"/>
              <a:t>Extract TPLs</a:t>
            </a:r>
          </a:p>
          <a:p>
            <a:r>
              <a:rPr lang="en-GB" noProof="0" dirty="0"/>
              <a:t>Test selected tools</a:t>
            </a:r>
          </a:p>
          <a:p>
            <a:r>
              <a:rPr lang="en-GB" noProof="0" dirty="0"/>
              <a:t>Hybrid Frameworks excluded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85197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=&gt; People </a:t>
            </a:r>
            <a:r>
              <a:rPr lang="de-CH" dirty="0" err="1"/>
              <a:t>overrate</a:t>
            </a:r>
            <a:r>
              <a:rPr lang="de-CH" dirty="0"/>
              <a:t> </a:t>
            </a:r>
            <a:r>
              <a:rPr lang="de-CH" dirty="0" err="1"/>
              <a:t>their</a:t>
            </a:r>
            <a:r>
              <a:rPr lang="de-CH" dirty="0"/>
              <a:t> </a:t>
            </a:r>
            <a:r>
              <a:rPr lang="de-CH" dirty="0" err="1"/>
              <a:t>tools</a:t>
            </a:r>
            <a:r>
              <a:rPr lang="de-CH" dirty="0"/>
              <a:t> in </a:t>
            </a:r>
            <a:r>
              <a:rPr lang="de-CH" dirty="0" err="1"/>
              <a:t>papers</a:t>
            </a:r>
            <a:endParaRPr lang="de-CH" dirty="0"/>
          </a:p>
          <a:p>
            <a:r>
              <a:rPr lang="de-CH" dirty="0"/>
              <a:t>TP: </a:t>
            </a:r>
            <a:r>
              <a:rPr lang="de-CH" dirty="0" err="1"/>
              <a:t>correctly</a:t>
            </a:r>
            <a:r>
              <a:rPr lang="de-CH" dirty="0"/>
              <a:t> </a:t>
            </a:r>
            <a:r>
              <a:rPr lang="de-CH" dirty="0" err="1"/>
              <a:t>identified</a:t>
            </a:r>
            <a:br>
              <a:rPr lang="de-CH" dirty="0"/>
            </a:br>
            <a:r>
              <a:rPr lang="de-CH" dirty="0"/>
              <a:t>FP: </a:t>
            </a:r>
            <a:r>
              <a:rPr lang="de-CH" dirty="0" err="1"/>
              <a:t>incorrectly</a:t>
            </a:r>
            <a:r>
              <a:rPr lang="de-CH" dirty="0"/>
              <a:t> </a:t>
            </a:r>
            <a:r>
              <a:rPr lang="de-CH" dirty="0" err="1"/>
              <a:t>identified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present</a:t>
            </a:r>
            <a:r>
              <a:rPr lang="de-CH" dirty="0"/>
              <a:t> </a:t>
            </a:r>
            <a:r>
              <a:rPr lang="de-CH" dirty="0" err="1"/>
              <a:t>when</a:t>
            </a:r>
            <a:r>
              <a:rPr lang="de-CH" dirty="0"/>
              <a:t>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not</a:t>
            </a:r>
          </a:p>
          <a:p>
            <a:r>
              <a:rPr lang="de-CH" dirty="0"/>
              <a:t>FN: </a:t>
            </a:r>
            <a:r>
              <a:rPr lang="de-CH" dirty="0" err="1"/>
              <a:t>incorrectly</a:t>
            </a:r>
            <a:r>
              <a:rPr lang="de-CH" dirty="0"/>
              <a:t> </a:t>
            </a:r>
            <a:r>
              <a:rPr lang="de-CH" dirty="0" err="1"/>
              <a:t>identified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absent </a:t>
            </a:r>
            <a:r>
              <a:rPr lang="de-CH" dirty="0" err="1"/>
              <a:t>when</a:t>
            </a:r>
            <a:r>
              <a:rPr lang="de-CH" dirty="0"/>
              <a:t>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present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24139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Featuring: </a:t>
            </a:r>
          </a:p>
          <a:p>
            <a:pPr lvl="1"/>
            <a:r>
              <a:rPr lang="en-GB" dirty="0"/>
              <a:t>Obfuscated apps</a:t>
            </a:r>
          </a:p>
          <a:p>
            <a:pPr lvl="1"/>
            <a:r>
              <a:rPr lang="en-GB" noProof="0" dirty="0"/>
              <a:t>Native apps</a:t>
            </a:r>
          </a:p>
          <a:p>
            <a:pPr lvl="1"/>
            <a:r>
              <a:rPr lang="en-GB" dirty="0"/>
              <a:t>Hybrid apps</a:t>
            </a:r>
            <a:endParaRPr lang="en-GB" noProof="0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99496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8" name="Textplatzhalter 21"/>
          <p:cNvSpPr txBox="1"/>
          <p:nvPr/>
        </p:nvSpPr>
        <p:spPr>
          <a:xfrm>
            <a:off x="539999" y="280800"/>
            <a:ext cx="70200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914377">
              <a:lnSpc>
                <a:spcPct val="90000"/>
              </a:lnSpc>
              <a:defRPr sz="1200" spc="-1"/>
            </a:lvl1pPr>
          </a:lstStyle>
          <a:p>
            <a:r>
              <a:t>Gruppe [Nummer]: [eigenes Thema]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1169999"/>
            <a:ext cx="7020002" cy="410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ts val="3200"/>
              </a:lnSpc>
              <a:spcBef>
                <a:spcPts val="0"/>
              </a:spcBef>
            </a:lvl1pPr>
          </a:lstStyle>
          <a:p>
            <a:r>
              <a:rPr dirty="0"/>
              <a:t>Titel B (Arial 28pt., schwarz, max. 1 Zeile) </a:t>
            </a:r>
          </a:p>
        </p:txBody>
      </p:sp>
      <p:sp>
        <p:nvSpPr>
          <p:cNvPr id="21" name="Textplatzhalter 16"/>
          <p:cNvSpPr>
            <a:spLocks noGrp="1"/>
          </p:cNvSpPr>
          <p:nvPr>
            <p:ph type="body" sz="quarter" idx="22" hasCustomPrompt="1"/>
          </p:nvPr>
        </p:nvSpPr>
        <p:spPr>
          <a:xfrm>
            <a:off x="539999" y="2159999"/>
            <a:ext cx="3726002" cy="8437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0"/>
            </a:lvl1pPr>
          </a:lstStyle>
          <a:p>
            <a:r>
              <a:rPr dirty="0"/>
              <a:t>Arial Fett 16pt.</a:t>
            </a:r>
          </a:p>
        </p:txBody>
      </p:sp>
      <p:sp>
        <p:nvSpPr>
          <p:cNvPr id="22" name="Textplatzhalter 16"/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147814"/>
            <a:ext cx="3726002" cy="1622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/>
            </a:lvl1pPr>
          </a:lstStyle>
          <a:p>
            <a:r>
              <a:rPr dirty="0"/>
              <a:t>Arial 16/20pt.</a:t>
            </a:r>
          </a:p>
        </p:txBody>
      </p:sp>
      <p:sp>
        <p:nvSpPr>
          <p:cNvPr id="23" name="Titel A (Arial 28pt., rot, max. 1 Zeile)"/>
          <p:cNvSpPr txBox="1">
            <a:spLocks noGrp="1"/>
          </p:cNvSpPr>
          <p:nvPr>
            <p:ph type="title" hasCustomPrompt="1"/>
          </p:nvPr>
        </p:nvSpPr>
        <p:spPr>
          <a:xfrm>
            <a:off x="539999" y="680399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Titel A (Arial 28pt., rot, max. 1 Zeile) </a:t>
            </a:r>
          </a:p>
        </p:txBody>
      </p:sp>
      <p:sp>
        <p:nvSpPr>
          <p:cNvPr id="24" name="Rechteck 1"/>
          <p:cNvSpPr/>
          <p:nvPr/>
        </p:nvSpPr>
        <p:spPr>
          <a:xfrm>
            <a:off x="0" y="154750"/>
            <a:ext cx="7560000" cy="360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ndard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39999" y="1491629"/>
            <a:ext cx="7992442" cy="3266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rPr dirty="0"/>
              <a:t>1. Ebene 20pt.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Zweispaltige Standard-Folie mit zwei Auss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39999" y="1491629"/>
            <a:ext cx="3726002" cy="1800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/>
            </a:lvl1pPr>
            <a:lvl2pPr marL="609584" indent="-152395">
              <a:lnSpc>
                <a:spcPct val="100000"/>
              </a:lnSpc>
              <a:spcBef>
                <a:spcPts val="0"/>
              </a:spcBef>
              <a:defRPr sz="1600" b="1"/>
            </a:lvl2pPr>
            <a:lvl3pPr marL="1097252" indent="-182875">
              <a:lnSpc>
                <a:spcPct val="100000"/>
              </a:lnSpc>
              <a:spcBef>
                <a:spcPts val="0"/>
              </a:spcBef>
              <a:defRPr sz="1600" b="1"/>
            </a:lvl3pPr>
            <a:lvl4pPr marL="1574760" indent="-203194">
              <a:lnSpc>
                <a:spcPct val="100000"/>
              </a:lnSpc>
              <a:spcBef>
                <a:spcPts val="0"/>
              </a:spcBef>
              <a:defRPr sz="1600" b="1"/>
            </a:lvl4pPr>
            <a:lvl5pPr marL="2031949" indent="-203194">
              <a:lnSpc>
                <a:spcPct val="100000"/>
              </a:lnSpc>
              <a:spcBef>
                <a:spcPts val="0"/>
              </a:spcBef>
              <a:defRPr sz="1600" b="1"/>
            </a:lvl5pPr>
          </a:lstStyle>
          <a:p>
            <a:r>
              <a:t>Aussage 1: Arial Fett 16pt.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Textplatzhalter 16"/>
          <p:cNvSpPr>
            <a:spLocks noGrp="1"/>
          </p:cNvSpPr>
          <p:nvPr>
            <p:ph type="body" sz="half" idx="21" hasCustomPrompt="1"/>
          </p:nvPr>
        </p:nvSpPr>
        <p:spPr>
          <a:xfrm>
            <a:off x="539999" y="1761630"/>
            <a:ext cx="3726002" cy="30423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r>
              <a:t>Fliesstext 1: Arial 16pt.</a:t>
            </a:r>
          </a:p>
        </p:txBody>
      </p:sp>
      <p:sp>
        <p:nvSpPr>
          <p:cNvPr id="65" name="Textplatzhalter 16"/>
          <p:cNvSpPr>
            <a:spLocks noGrp="1"/>
          </p:cNvSpPr>
          <p:nvPr>
            <p:ph type="body" sz="quarter" idx="22" hasCustomPrompt="1"/>
          </p:nvPr>
        </p:nvSpPr>
        <p:spPr>
          <a:xfrm>
            <a:off x="4877999" y="1491629"/>
            <a:ext cx="3726002" cy="1800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722357">
              <a:lnSpc>
                <a:spcPct val="100000"/>
              </a:lnSpc>
              <a:spcBef>
                <a:spcPts val="0"/>
              </a:spcBef>
              <a:defRPr sz="1264" b="1"/>
            </a:lvl1pPr>
          </a:lstStyle>
          <a:p>
            <a:r>
              <a:t>Aussage 2: Arial Fett 16pt.</a:t>
            </a:r>
          </a:p>
        </p:txBody>
      </p:sp>
      <p:sp>
        <p:nvSpPr>
          <p:cNvPr id="66" name="Textplatzhalter 16"/>
          <p:cNvSpPr>
            <a:spLocks noGrp="1"/>
          </p:cNvSpPr>
          <p:nvPr>
            <p:ph type="body" sz="half" idx="23" hasCustomPrompt="1"/>
          </p:nvPr>
        </p:nvSpPr>
        <p:spPr>
          <a:xfrm>
            <a:off x="4877999" y="1761630"/>
            <a:ext cx="3726002" cy="30423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r>
              <a:t>Fliesstext 2: Arial 16pt.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ndard-Folie mit Grafi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9" name="Rechteck 5"/>
          <p:cNvSpPr/>
          <p:nvPr/>
        </p:nvSpPr>
        <p:spPr>
          <a:xfrm>
            <a:off x="6876256" y="1238250"/>
            <a:ext cx="2267745" cy="37477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8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39999" y="1491629"/>
            <a:ext cx="6192241" cy="3266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ndard-Folie mit Grafi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91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3" name="Rechteck 5"/>
          <p:cNvSpPr/>
          <p:nvPr/>
        </p:nvSpPr>
        <p:spPr>
          <a:xfrm>
            <a:off x="5651999" y="1238250"/>
            <a:ext cx="3492001" cy="37477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94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39999" y="1491629"/>
            <a:ext cx="4968106" cy="3266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ndard-Folie mit Grafi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07" name="Rechteck 5"/>
          <p:cNvSpPr/>
          <p:nvPr/>
        </p:nvSpPr>
        <p:spPr>
          <a:xfrm>
            <a:off x="4572000" y="1238250"/>
            <a:ext cx="4572000" cy="37477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0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39999" y="1491629"/>
            <a:ext cx="3959993" cy="3266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ndard-Folie mit Grafi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hteck 4"/>
          <p:cNvSpPr/>
          <p:nvPr/>
        </p:nvSpPr>
        <p:spPr>
          <a:xfrm>
            <a:off x="0" y="1925997"/>
            <a:ext cx="9144000" cy="3060001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pic>
        <p:nvPicPr>
          <p:cNvPr id="116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19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20" name="Rechteck 5"/>
          <p:cNvSpPr/>
          <p:nvPr/>
        </p:nvSpPr>
        <p:spPr>
          <a:xfrm>
            <a:off x="3275855" y="1238250"/>
            <a:ext cx="5868145" cy="37477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21" name="Rechteck 3"/>
          <p:cNvSpPr/>
          <p:nvPr/>
        </p:nvSpPr>
        <p:spPr>
          <a:xfrm>
            <a:off x="-2" y="1238250"/>
            <a:ext cx="3471833" cy="3747748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2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39999" y="1491629"/>
            <a:ext cx="2735858" cy="3266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5113" indent="-258763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reite Grafi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33" name="Rechteck 5"/>
          <p:cNvSpPr/>
          <p:nvPr/>
        </p:nvSpPr>
        <p:spPr>
          <a:xfrm>
            <a:off x="0" y="3219823"/>
            <a:ext cx="9144000" cy="17900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34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39999" y="1491631"/>
            <a:ext cx="7992442" cy="158417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reite Grafi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eck 4"/>
          <p:cNvSpPr/>
          <p:nvPr/>
        </p:nvSpPr>
        <p:spPr>
          <a:xfrm>
            <a:off x="0" y="1925997"/>
            <a:ext cx="9144000" cy="3060001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pic>
        <p:nvPicPr>
          <p:cNvPr id="144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47" name="Rechteck 5"/>
          <p:cNvSpPr/>
          <p:nvPr/>
        </p:nvSpPr>
        <p:spPr>
          <a:xfrm>
            <a:off x="0" y="3977259"/>
            <a:ext cx="9144000" cy="10326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48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49" name="Rechteck 3"/>
          <p:cNvSpPr/>
          <p:nvPr/>
        </p:nvSpPr>
        <p:spPr>
          <a:xfrm>
            <a:off x="0" y="1238249"/>
            <a:ext cx="9144000" cy="248563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5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39999" y="1491631"/>
            <a:ext cx="7992442" cy="23833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6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39999" y="2190750"/>
            <a:ext cx="7992442" cy="261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0"/>
              </a:spcBef>
              <a:buSzPct val="100000"/>
              <a:buFont typeface="Symbol"/>
              <a:buChar char="-"/>
              <a:defRPr sz="2000"/>
            </a:lvl1pPr>
            <a:lvl2pPr marL="742931" indent="-285742">
              <a:lnSpc>
                <a:spcPct val="100000"/>
              </a:lnSpc>
              <a:spcBef>
                <a:spcPts val="0"/>
              </a:spcBef>
              <a:buFont typeface="Symbol"/>
              <a:buChar char="-"/>
              <a:defRPr sz="2000"/>
            </a:lvl2pPr>
            <a:lvl3pPr marL="1200119" indent="-285742">
              <a:lnSpc>
                <a:spcPct val="100000"/>
              </a:lnSpc>
              <a:spcBef>
                <a:spcPts val="0"/>
              </a:spcBef>
              <a:buFont typeface="Symbol"/>
              <a:buChar char="-"/>
              <a:defRPr sz="2000"/>
            </a:lvl3pPr>
            <a:lvl4pPr marL="1657308" indent="-285742">
              <a:lnSpc>
                <a:spcPct val="100000"/>
              </a:lnSpc>
              <a:spcBef>
                <a:spcPts val="0"/>
              </a:spcBef>
              <a:buFont typeface="Symbol"/>
              <a:buChar char="-"/>
              <a:defRPr sz="2000"/>
            </a:lvl4pPr>
            <a:lvl5pPr marL="2114497" indent="-285742">
              <a:lnSpc>
                <a:spcPct val="100000"/>
              </a:lnSpc>
              <a:spcBef>
                <a:spcPts val="0"/>
              </a:spcBef>
              <a:buFont typeface="Symbol"/>
              <a:buChar char="·"/>
              <a:defRPr sz="2000"/>
            </a:lvl5pPr>
          </a:lstStyle>
          <a:p>
            <a:r>
              <a:rPr dirty="0"/>
              <a:t>1. Ebene 20pt.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162" name="Titel A (Arial 28pt., rot, max. 1 Zeile)"/>
          <p:cNvSpPr txBox="1">
            <a:spLocks noGrp="1"/>
          </p:cNvSpPr>
          <p:nvPr>
            <p:ph type="title" hasCustomPrompt="1"/>
          </p:nvPr>
        </p:nvSpPr>
        <p:spPr>
          <a:xfrm>
            <a:off x="539999" y="680399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Titel A (Arial 28pt., rot, max. 1 Zeile) 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hr grosse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hteck 4"/>
          <p:cNvSpPr/>
          <p:nvPr/>
        </p:nvSpPr>
        <p:spPr>
          <a:xfrm>
            <a:off x="0" y="1925997"/>
            <a:ext cx="9144000" cy="3060001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pic>
        <p:nvPicPr>
          <p:cNvPr id="170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73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74" name="Rechteck 3"/>
          <p:cNvSpPr/>
          <p:nvPr/>
        </p:nvSpPr>
        <p:spPr>
          <a:xfrm>
            <a:off x="0" y="1238250"/>
            <a:ext cx="9144000" cy="37477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hteck 4"/>
          <p:cNvSpPr/>
          <p:nvPr/>
        </p:nvSpPr>
        <p:spPr>
          <a:xfrm>
            <a:off x="0" y="1925997"/>
            <a:ext cx="9144000" cy="3060001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pic>
        <p:nvPicPr>
          <p:cNvPr id="189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91" name="Textplatzhalter 21"/>
          <p:cNvSpPr txBox="1"/>
          <p:nvPr/>
        </p:nvSpPr>
        <p:spPr>
          <a:xfrm>
            <a:off x="539999" y="280800"/>
            <a:ext cx="70200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914377">
              <a:lnSpc>
                <a:spcPct val="90000"/>
              </a:lnSpc>
              <a:defRPr sz="1200" spc="-1"/>
            </a:lvl1pPr>
          </a:lstStyle>
          <a:p>
            <a:r>
              <a:t>Gruppe [Nummer]: [eigenes Thema]</a:t>
            </a:r>
          </a:p>
        </p:txBody>
      </p:sp>
      <p:sp>
        <p:nvSpPr>
          <p:cNvPr id="192" name="Rechteck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"/>
          <p:cNvSpPr/>
          <p:nvPr/>
        </p:nvSpPr>
        <p:spPr>
          <a:xfrm>
            <a:off x="0" y="1925997"/>
            <a:ext cx="9144000" cy="3060001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 dirty="0"/>
          </a:p>
        </p:txBody>
      </p:sp>
      <p:pic>
        <p:nvPicPr>
          <p:cNvPr id="3" name="Bild 5" descr="Bild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33400" y="5000624"/>
            <a:ext cx="127000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defRPr sz="800"/>
            </a:lvl1pPr>
          </a:lstStyle>
          <a:p>
            <a:fld id="{86CB4B4D-7CA3-9044-876B-883B54F8677D}" type="slidenum">
              <a:t>‹Nr.›</a:t>
            </a:fld>
            <a:endParaRPr dirty="0"/>
          </a:p>
        </p:txBody>
      </p:sp>
      <p:sp>
        <p:nvSpPr>
          <p:cNvPr id="5" name="Textplatzhalter 21"/>
          <p:cNvSpPr txBox="1"/>
          <p:nvPr/>
        </p:nvSpPr>
        <p:spPr>
          <a:xfrm>
            <a:off x="539999" y="280800"/>
            <a:ext cx="70200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914377">
              <a:lnSpc>
                <a:spcPct val="90000"/>
              </a:lnSpc>
              <a:defRPr sz="1200" spc="-1"/>
            </a:lvl1pPr>
          </a:lstStyle>
          <a:p>
            <a:r>
              <a:rPr dirty="0"/>
              <a:t>Gruppe [Nummer]: [</a:t>
            </a:r>
            <a:r>
              <a:rPr dirty="0" err="1"/>
              <a:t>eigenes</a:t>
            </a:r>
            <a:r>
              <a:rPr dirty="0"/>
              <a:t> Thema]</a:t>
            </a:r>
          </a:p>
        </p:txBody>
      </p:sp>
      <p:sp>
        <p:nvSpPr>
          <p:cNvPr id="6" name="Rechteck 3"/>
          <p:cNvSpPr/>
          <p:nvPr/>
        </p:nvSpPr>
        <p:spPr>
          <a:xfrm>
            <a:off x="0" y="0"/>
            <a:ext cx="9144000" cy="49859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7" name="Title Text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99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8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ransition spd="med"/>
  <p:txStyles>
    <p:titleStyle>
      <a:lvl1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881" marR="0" indent="-266692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08" marR="0" indent="-320031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156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345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533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722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5910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099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platzhalter 2"/>
          <p:cNvSpPr txBox="1">
            <a:spLocks noGrp="1"/>
          </p:cNvSpPr>
          <p:nvPr>
            <p:ph type="body" sz="quarter" idx="4294967295"/>
          </p:nvPr>
        </p:nvSpPr>
        <p:spPr>
          <a:xfrm>
            <a:off x="539999" y="1169999"/>
            <a:ext cx="7776418" cy="820739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ts val="3200"/>
              </a:lnSpc>
              <a:spcBef>
                <a:spcPts val="0"/>
              </a:spcBef>
              <a:defRPr sz="2800"/>
            </a:lvl1pPr>
          </a:lstStyle>
          <a:p>
            <a:r>
              <a:rPr lang="en-GB" noProof="0" dirty="0"/>
              <a:t>TPL Detection on Android Apps: Related Work Research</a:t>
            </a:r>
          </a:p>
        </p:txBody>
      </p:sp>
      <p:sp>
        <p:nvSpPr>
          <p:cNvPr id="203" name="Textplatzhalter 16"/>
          <p:cNvSpPr>
            <a:spLocks noGrp="1"/>
          </p:cNvSpPr>
          <p:nvPr>
            <p:ph type="body" idx="22"/>
          </p:nvPr>
        </p:nvSpPr>
        <p:spPr>
          <a:xfrm>
            <a:off x="539999" y="2159999"/>
            <a:ext cx="4104010" cy="84379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>
              <a:spcBef>
                <a:spcPts val="1200"/>
              </a:spcBef>
              <a:defRPr b="0"/>
            </a:pPr>
            <a:r>
              <a:rPr lang="en-GB" noProof="0" dirty="0"/>
              <a:t>28.05.2026</a:t>
            </a:r>
          </a:p>
        </p:txBody>
      </p:sp>
      <p:sp>
        <p:nvSpPr>
          <p:cNvPr id="204" name="Textplatzhalter 18"/>
          <p:cNvSpPr>
            <a:spLocks noGrp="1"/>
          </p:cNvSpPr>
          <p:nvPr>
            <p:ph type="body" idx="23"/>
          </p:nvPr>
        </p:nvSpPr>
        <p:spPr>
          <a:xfrm>
            <a:off x="539999" y="2872740"/>
            <a:ext cx="3726002" cy="189726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pPr defTabSz="868658">
              <a:defRPr sz="1520" b="1"/>
            </a:pPr>
            <a:r>
              <a:rPr lang="en-GB" noProof="0" dirty="0"/>
              <a:t>Tim Jordi</a:t>
            </a:r>
          </a:p>
          <a:p>
            <a:pPr defTabSz="868658">
              <a:defRPr sz="1520" b="1"/>
            </a:pPr>
            <a:r>
              <a:rPr lang="en-GB" b="0" i="1" noProof="0" dirty="0"/>
              <a:t>Supervised by:</a:t>
            </a:r>
          </a:p>
          <a:p>
            <a:pPr defTabSz="868658">
              <a:defRPr sz="1520" b="1"/>
            </a:pPr>
            <a:r>
              <a:rPr lang="en-GB" dirty="0"/>
              <a:t>Prof. Dr. Timo Kehrer</a:t>
            </a:r>
          </a:p>
          <a:p>
            <a:pPr defTabSz="868658">
              <a:defRPr sz="1520" b="1"/>
            </a:pPr>
            <a:r>
              <a:rPr lang="en-GB" noProof="0" dirty="0"/>
              <a:t>Thomas Sutter</a:t>
            </a:r>
          </a:p>
          <a:p>
            <a:pPr defTabSz="868658">
              <a:defRPr sz="1520" b="1"/>
            </a:pPr>
            <a:endParaRPr lang="en-GB" noProof="0" dirty="0"/>
          </a:p>
          <a:p>
            <a:pPr defTabSz="868658">
              <a:defRPr sz="1520" b="1"/>
            </a:pPr>
            <a:endParaRPr lang="en-GB" noProof="0" dirty="0"/>
          </a:p>
          <a:p>
            <a:pPr defTabSz="868658">
              <a:defRPr sz="1520"/>
            </a:pPr>
            <a:r>
              <a:rPr lang="en-GB" b="0" noProof="0" dirty="0"/>
              <a:t>Software Engineering Group</a:t>
            </a:r>
          </a:p>
          <a:p>
            <a:pPr defTabSz="868658">
              <a:defRPr sz="1520"/>
            </a:pPr>
            <a:r>
              <a:rPr lang="en-GB" b="0" noProof="0" dirty="0"/>
              <a:t>Institute of Computer Science</a:t>
            </a:r>
          </a:p>
          <a:p>
            <a:r>
              <a:rPr lang="en-GB" b="0" noProof="0" dirty="0"/>
              <a:t>University of Bern</a:t>
            </a:r>
          </a:p>
        </p:txBody>
      </p:sp>
      <p:sp>
        <p:nvSpPr>
          <p:cNvPr id="205" name="Titel 7"/>
          <p:cNvSpPr txBox="1">
            <a:spLocks noGrp="1"/>
          </p:cNvSpPr>
          <p:nvPr>
            <p:ph type="title"/>
          </p:nvPr>
        </p:nvSpPr>
        <p:spPr>
          <a:xfrm>
            <a:off x="539999" y="680399"/>
            <a:ext cx="7020002" cy="41037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Seminar Software Engineering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Foliennummernplatzhalter 5"/>
          <p:cNvSpPr txBox="1">
            <a:spLocks noGrp="1"/>
          </p:cNvSpPr>
          <p:nvPr>
            <p:ph type="sldNum" sz="quarter" idx="2"/>
          </p:nvPr>
        </p:nvSpPr>
        <p:spPr>
          <a:xfrm>
            <a:off x="540275" y="5002569"/>
            <a:ext cx="57708" cy="12311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GB" noProof="0" dirty="0"/>
              <a:t>2</a:t>
            </a:r>
          </a:p>
        </p:txBody>
      </p:sp>
      <p:sp>
        <p:nvSpPr>
          <p:cNvPr id="211" name="Textplatzhalter 3"/>
          <p:cNvSpPr txBox="1">
            <a:spLocks noGrp="1"/>
          </p:cNvSpPr>
          <p:nvPr>
            <p:ph type="body" idx="1"/>
          </p:nvPr>
        </p:nvSpPr>
        <p:spPr>
          <a:xfrm>
            <a:off x="539999" y="1853101"/>
            <a:ext cx="7992441" cy="2610000"/>
          </a:xfrm>
          <a:prstGeom prst="rect">
            <a:avLst/>
          </a:prstGeom>
        </p:spPr>
        <p:txBody>
          <a:bodyPr/>
          <a:lstStyle/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noProof="0" dirty="0"/>
              <a:t>Background</a:t>
            </a:r>
          </a:p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noProof="0" dirty="0"/>
              <a:t>Introduction</a:t>
            </a:r>
          </a:p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noProof="0" dirty="0"/>
              <a:t>TPL Detection</a:t>
            </a:r>
          </a:p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noProof="0" dirty="0"/>
              <a:t>Benchmarking</a:t>
            </a:r>
          </a:p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dirty="0"/>
              <a:t>Results</a:t>
            </a:r>
            <a:endParaRPr lang="en-GB" noProof="0" dirty="0"/>
          </a:p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dirty="0"/>
              <a:t>Conclusion</a:t>
            </a:r>
          </a:p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noProof="0" dirty="0"/>
              <a:t>Outlook</a:t>
            </a:r>
          </a:p>
        </p:txBody>
      </p:sp>
      <p:sp>
        <p:nvSpPr>
          <p:cNvPr id="212" name="Titel 6"/>
          <p:cNvSpPr txBox="1">
            <a:spLocks noGrp="1"/>
          </p:cNvSpPr>
          <p:nvPr>
            <p:ph type="title"/>
          </p:nvPr>
        </p:nvSpPr>
        <p:spPr>
          <a:xfrm>
            <a:off x="539999" y="680399"/>
            <a:ext cx="7020002" cy="41037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Outline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Foliennummernplatzhalter 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GB" noProof="0" smtClean="0"/>
              <a:t>3</a:t>
            </a:fld>
            <a:endParaRPr lang="en-GB" noProof="0" dirty="0"/>
          </a:p>
        </p:txBody>
      </p:sp>
      <p:sp>
        <p:nvSpPr>
          <p:cNvPr id="218" name="Titel 5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noProof="0" dirty="0"/>
              <a:t>Background</a:t>
            </a:r>
          </a:p>
        </p:txBody>
      </p:sp>
      <p:sp>
        <p:nvSpPr>
          <p:cNvPr id="219" name="Inhaltsplatzhalter 6"/>
          <p:cNvSpPr txBox="1">
            <a:spLocks noGrp="1"/>
          </p:cNvSpPr>
          <p:nvPr>
            <p:ph type="body" sz="half" idx="1"/>
          </p:nvPr>
        </p:nvSpPr>
        <p:spPr>
          <a:xfrm>
            <a:off x="539999" y="1491629"/>
            <a:ext cx="4968106" cy="3266371"/>
          </a:xfrm>
          <a:prstGeom prst="rect">
            <a:avLst/>
          </a:prstGeom>
        </p:spPr>
        <p:txBody>
          <a:bodyPr/>
          <a:lstStyle/>
          <a:p>
            <a:endParaRPr lang="en-GB" noProof="0" dirty="0"/>
          </a:p>
          <a:p>
            <a:endParaRPr lang="en-GB" dirty="0"/>
          </a:p>
          <a:p>
            <a:r>
              <a:rPr lang="en-GB" noProof="0" dirty="0"/>
              <a:t>Bachelors Thesis: </a:t>
            </a:r>
            <a:r>
              <a:rPr lang="en-GB" i="1" noProof="0" dirty="0"/>
              <a:t>Building a Ground-Truth Dataset of Android Hybrid Applications and Their Third-Party Libraries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23" name="Rechteck 2"/>
          <p:cNvSpPr txBox="1"/>
          <p:nvPr/>
        </p:nvSpPr>
        <p:spPr>
          <a:xfrm>
            <a:off x="990649" y="5002567"/>
            <a:ext cx="5964774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GB" noProof="0" dirty="0"/>
              <a:t>1: https://avatars.githubusercontent.com/u/14101776?s=280&amp;v=4, 25.05.26; 2: https://de.wikipedia.org/wiki/React_Native, 25.05.26 </a:t>
            </a:r>
          </a:p>
        </p:txBody>
      </p:sp>
      <p:pic>
        <p:nvPicPr>
          <p:cNvPr id="1026" name="Picture 2" descr="Flutter · GitHub">
            <a:extLst>
              <a:ext uri="{FF2B5EF4-FFF2-40B4-BE49-F238E27FC236}">
                <a16:creationId xmlns:a16="http://schemas.microsoft.com/office/drawing/2014/main" id="{1E360B14-D4C8-CD02-0E54-014D2DC37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423" y="2659496"/>
            <a:ext cx="1604281" cy="1604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act Native – Wikipedia">
            <a:extLst>
              <a:ext uri="{FF2B5EF4-FFF2-40B4-BE49-F238E27FC236}">
                <a16:creationId xmlns:a16="http://schemas.microsoft.com/office/drawing/2014/main" id="{E6BB07F2-D070-31AE-859F-8B1595477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5" y="1450493"/>
            <a:ext cx="1720836" cy="149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Foliennummernplatzhalter 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GB" noProof="0" smtClean="0"/>
              <a:t>4</a:t>
            </a:fld>
            <a:endParaRPr lang="en-GB" noProof="0" dirty="0"/>
          </a:p>
        </p:txBody>
      </p:sp>
      <p:sp>
        <p:nvSpPr>
          <p:cNvPr id="226" name="Titel 5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Introduction</a:t>
            </a:r>
          </a:p>
        </p:txBody>
      </p:sp>
      <p:sp>
        <p:nvSpPr>
          <p:cNvPr id="227" name="Inhaltsplatzhalter 6"/>
          <p:cNvSpPr txBox="1">
            <a:spLocks noGrp="1"/>
          </p:cNvSpPr>
          <p:nvPr>
            <p:ph type="body" sz="half" idx="1"/>
          </p:nvPr>
        </p:nvSpPr>
        <p:spPr>
          <a:xfrm>
            <a:off x="539999" y="1491629"/>
            <a:ext cx="4968106" cy="3266371"/>
          </a:xfrm>
          <a:prstGeom prst="rect">
            <a:avLst/>
          </a:prstGeom>
        </p:spPr>
        <p:txBody>
          <a:bodyPr/>
          <a:lstStyle/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31" name="Rechteck 2"/>
          <p:cNvSpPr txBox="1"/>
          <p:nvPr/>
        </p:nvSpPr>
        <p:spPr>
          <a:xfrm>
            <a:off x="990649" y="5002567"/>
            <a:ext cx="5084725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GB" noProof="0" dirty="0" err="1"/>
              <a:t>Gokkaya</a:t>
            </a:r>
            <a:r>
              <a:rPr lang="en-GB" noProof="0" dirty="0"/>
              <a:t> et al.: </a:t>
            </a:r>
            <a:r>
              <a:rPr lang="en-US" dirty="0"/>
              <a:t>Software supply chain: A taxonomy of attacks, mitigations and risk assessment strategies, 2026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E176B66-A12E-BC82-C612-C1C931B1F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50" y="1491629"/>
            <a:ext cx="4154750" cy="273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3F828B5E-8A7A-C726-D77E-8A32421AE5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5284288"/>
              </p:ext>
            </p:extLst>
          </p:nvPr>
        </p:nvGraphicFramePr>
        <p:xfrm>
          <a:off x="4572000" y="1328963"/>
          <a:ext cx="3740458" cy="3112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Foliennummernplatzhalter 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GB" noProof="0" smtClean="0"/>
              <a:t>5</a:t>
            </a:fld>
            <a:endParaRPr lang="en-GB" noProof="0" dirty="0"/>
          </a:p>
        </p:txBody>
      </p:sp>
      <p:sp>
        <p:nvSpPr>
          <p:cNvPr id="237" name="Titel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TPL Detection</a:t>
            </a:r>
          </a:p>
        </p:txBody>
      </p:sp>
      <p:sp>
        <p:nvSpPr>
          <p:cNvPr id="238" name="Inhaltsplatzhalter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350" indent="0">
              <a:buNone/>
            </a:pPr>
            <a:endParaRPr lang="en-GB" noProof="0" dirty="0"/>
          </a:p>
        </p:txBody>
      </p:sp>
      <p:sp>
        <p:nvSpPr>
          <p:cNvPr id="239" name="Rechteck 2"/>
          <p:cNvSpPr txBox="1"/>
          <p:nvPr/>
        </p:nvSpPr>
        <p:spPr>
          <a:xfrm>
            <a:off x="955138" y="5000624"/>
            <a:ext cx="6386695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GB" noProof="0" dirty="0"/>
              <a:t>Zhan et al.: </a:t>
            </a:r>
            <a:r>
              <a:rPr lang="en-US" dirty="0"/>
              <a:t>The hidden complexities of Android TPL detection: An empirical analysis of techniques, challenges, and effectiveness, 2025</a:t>
            </a:r>
            <a:endParaRPr lang="en-GB" noProof="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26A42379-AA09-FB1F-E7D8-05CDC8016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48" y="1377992"/>
            <a:ext cx="8014093" cy="349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696F86-DE8C-D53D-6A9B-9D8CAD3C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Clustering-based Detection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85BDDE-FC19-30AE-F51A-0767894CD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en-GB" noProof="0" dirty="0"/>
          </a:p>
        </p:txBody>
      </p:sp>
      <p:sp>
        <p:nvSpPr>
          <p:cNvPr id="7" name="Rechteck 2">
            <a:extLst>
              <a:ext uri="{FF2B5EF4-FFF2-40B4-BE49-F238E27FC236}">
                <a16:creationId xmlns:a16="http://schemas.microsoft.com/office/drawing/2014/main" id="{4B243EE4-1F38-7031-273F-20E9E88EC1E9}"/>
              </a:ext>
            </a:extLst>
          </p:cNvPr>
          <p:cNvSpPr txBox="1"/>
          <p:nvPr/>
        </p:nvSpPr>
        <p:spPr>
          <a:xfrm>
            <a:off x="1291658" y="5020389"/>
            <a:ext cx="5516683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GB" noProof="0" dirty="0" err="1"/>
              <a:t>Ziang</a:t>
            </a:r>
            <a:r>
              <a:rPr lang="en-GB" noProof="0" dirty="0"/>
              <a:t> et al.</a:t>
            </a:r>
            <a:r>
              <a:rPr lang="en-GB" dirty="0"/>
              <a:t>: </a:t>
            </a:r>
            <a:r>
              <a:rPr lang="en-US" dirty="0" err="1"/>
              <a:t>LibRadar</a:t>
            </a:r>
            <a:r>
              <a:rPr lang="en-US" dirty="0"/>
              <a:t>: Fast and Accurate Detection of Third-party Libraries in Android Apps, 2016</a:t>
            </a:r>
            <a:endParaRPr lang="en-GB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A85C087-F4D6-F5E8-389D-78C25915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02" y="1310096"/>
            <a:ext cx="8309499" cy="362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4072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7EE2C-AF7A-5600-CFB0-6E240E69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Clustering-</a:t>
            </a:r>
            <a:r>
              <a:rPr lang="de-CH" dirty="0" err="1"/>
              <a:t>based</a:t>
            </a:r>
            <a:r>
              <a:rPr lang="de-CH" dirty="0"/>
              <a:t> </a:t>
            </a:r>
            <a:r>
              <a:rPr lang="de-CH" dirty="0" err="1"/>
              <a:t>Detection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D4016E-723D-48C8-A736-8F24BC84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0F98BD9-E8A7-F912-BF54-45C0BB82C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99" y="1491629"/>
            <a:ext cx="7744906" cy="2886478"/>
          </a:xfrm>
          <a:prstGeom prst="rect">
            <a:avLst/>
          </a:prstGeom>
        </p:spPr>
      </p:pic>
      <p:sp>
        <p:nvSpPr>
          <p:cNvPr id="6" name="Rechteck 2">
            <a:extLst>
              <a:ext uri="{FF2B5EF4-FFF2-40B4-BE49-F238E27FC236}">
                <a16:creationId xmlns:a16="http://schemas.microsoft.com/office/drawing/2014/main" id="{F5BB4CCA-8F72-ED1B-4694-7FA43E6D4517}"/>
              </a:ext>
            </a:extLst>
          </p:cNvPr>
          <p:cNvSpPr txBox="1"/>
          <p:nvPr/>
        </p:nvSpPr>
        <p:spPr>
          <a:xfrm>
            <a:off x="1291658" y="5014782"/>
            <a:ext cx="5516683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GB" noProof="0" dirty="0" err="1"/>
              <a:t>Ziang</a:t>
            </a:r>
            <a:r>
              <a:rPr lang="en-GB" noProof="0" dirty="0"/>
              <a:t> et al.</a:t>
            </a:r>
            <a:r>
              <a:rPr lang="en-GB" dirty="0"/>
              <a:t>: </a:t>
            </a:r>
            <a:r>
              <a:rPr lang="en-US" dirty="0" err="1"/>
              <a:t>LibRadar</a:t>
            </a:r>
            <a:r>
              <a:rPr lang="en-US" dirty="0"/>
              <a:t>: Fast and Accurate Detection of Third-party Libraries in Android Apps, 2016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7124852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34E59A-15D9-FBDD-17E7-CE1752E0D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Clustering-</a:t>
            </a:r>
            <a:r>
              <a:rPr lang="de-CH" dirty="0" err="1"/>
              <a:t>based</a:t>
            </a:r>
            <a:r>
              <a:rPr lang="de-CH" dirty="0"/>
              <a:t> </a:t>
            </a:r>
            <a:r>
              <a:rPr lang="de-CH" dirty="0" err="1"/>
              <a:t>Detection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49BD17-E17F-0022-57B2-B7B16E877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4113613-5B6A-44DC-6B49-EE7A72C9A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931" y="1458417"/>
            <a:ext cx="6490577" cy="3332793"/>
          </a:xfrm>
          <a:prstGeom prst="rect">
            <a:avLst/>
          </a:prstGeom>
        </p:spPr>
      </p:pic>
      <p:sp>
        <p:nvSpPr>
          <p:cNvPr id="6" name="Rechteck 2">
            <a:extLst>
              <a:ext uri="{FF2B5EF4-FFF2-40B4-BE49-F238E27FC236}">
                <a16:creationId xmlns:a16="http://schemas.microsoft.com/office/drawing/2014/main" id="{F47631AF-B6EF-5E4E-542F-E63D82AB6AE2}"/>
              </a:ext>
            </a:extLst>
          </p:cNvPr>
          <p:cNvSpPr txBox="1"/>
          <p:nvPr/>
        </p:nvSpPr>
        <p:spPr>
          <a:xfrm>
            <a:off x="717552" y="5020389"/>
            <a:ext cx="5516683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GB" noProof="0" dirty="0" err="1"/>
              <a:t>Ziang</a:t>
            </a:r>
            <a:r>
              <a:rPr lang="en-GB" noProof="0" dirty="0"/>
              <a:t> et al.</a:t>
            </a:r>
            <a:r>
              <a:rPr lang="en-GB" dirty="0"/>
              <a:t>: </a:t>
            </a:r>
            <a:r>
              <a:rPr lang="en-US" dirty="0" err="1"/>
              <a:t>LibRadar</a:t>
            </a:r>
            <a:r>
              <a:rPr lang="en-US" dirty="0"/>
              <a:t>: Fast and Accurate Detection of Third-party Libraries in Android Apps, 2016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1722871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24D6FC-1DB7-E084-2BD2-88A7729B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Similarity-based Detection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69624F-879D-E669-2B6A-9A7EA31E1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en-GB" noProof="0" dirty="0"/>
          </a:p>
          <a:p>
            <a:pPr>
              <a:buFontTx/>
              <a:buChar char="-"/>
            </a:pPr>
            <a:endParaRPr lang="en-GB" noProof="0" dirty="0"/>
          </a:p>
        </p:txBody>
      </p:sp>
      <p:sp>
        <p:nvSpPr>
          <p:cNvPr id="7" name="Rechteck 2">
            <a:extLst>
              <a:ext uri="{FF2B5EF4-FFF2-40B4-BE49-F238E27FC236}">
                <a16:creationId xmlns:a16="http://schemas.microsoft.com/office/drawing/2014/main" id="{8B259E80-764E-08C9-1206-E488BD4CED2F}"/>
              </a:ext>
            </a:extLst>
          </p:cNvPr>
          <p:cNvSpPr txBox="1"/>
          <p:nvPr/>
        </p:nvSpPr>
        <p:spPr>
          <a:xfrm>
            <a:off x="502379" y="4989250"/>
            <a:ext cx="6466592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GB" noProof="0" dirty="0"/>
              <a:t>Wu et al: </a:t>
            </a:r>
            <a:r>
              <a:rPr lang="en-US" dirty="0" err="1"/>
              <a:t>LibScan</a:t>
            </a:r>
            <a:r>
              <a:rPr lang="en-US" dirty="0"/>
              <a:t>: Towards More Precise Third-Party Library Identification for Android Applications, 2023</a:t>
            </a:r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8A94FF4-0804-09D2-778B-0042740D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6445"/>
            <a:ext cx="9144000" cy="252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2050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BF0903-937F-DA4F-B55B-04633D57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Learning-based Detection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F4C04A-85DE-8DD8-5A52-A71B9555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350" indent="0">
              <a:buNone/>
            </a:pPr>
            <a:endParaRPr lang="en-GB" noProof="0" dirty="0"/>
          </a:p>
        </p:txBody>
      </p:sp>
      <p:sp>
        <p:nvSpPr>
          <p:cNvPr id="4" name="Rechteck 4">
            <a:extLst>
              <a:ext uri="{FF2B5EF4-FFF2-40B4-BE49-F238E27FC236}">
                <a16:creationId xmlns:a16="http://schemas.microsoft.com/office/drawing/2014/main" id="{1C4B04A5-F05F-0D9E-859D-E1CE40CEB33E}"/>
              </a:ext>
            </a:extLst>
          </p:cNvPr>
          <p:cNvSpPr txBox="1"/>
          <p:nvPr/>
        </p:nvSpPr>
        <p:spPr>
          <a:xfrm>
            <a:off x="990648" y="5007008"/>
            <a:ext cx="808233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US" dirty="0"/>
              <a:t>Pan et al: Pay Your Attention on Lib! Android Third-Party Library Detection via Feature Language Model, 2025</a:t>
            </a:r>
            <a:endParaRPr lang="en-GB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11A90B6-E89C-FB15-2C49-DD956ACC3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8375"/>
            <a:ext cx="9144000" cy="3335042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568030FC-8EA1-1F63-EBD8-018EDF7E422B}"/>
              </a:ext>
            </a:extLst>
          </p:cNvPr>
          <p:cNvSpPr/>
          <p:nvPr/>
        </p:nvSpPr>
        <p:spPr>
          <a:xfrm>
            <a:off x="3802380" y="1272540"/>
            <a:ext cx="3375660" cy="3611357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93D4065-6C65-CB12-3330-00BC7D0EA7C9}"/>
              </a:ext>
            </a:extLst>
          </p:cNvPr>
          <p:cNvSpPr/>
          <p:nvPr/>
        </p:nvSpPr>
        <p:spPr>
          <a:xfrm>
            <a:off x="7178040" y="1211580"/>
            <a:ext cx="1894400" cy="3611357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76064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Foliennummernplatzhalter 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GB" noProof="0" smtClean="0"/>
              <a:t>11</a:t>
            </a:fld>
            <a:endParaRPr lang="en-GB" noProof="0" dirty="0"/>
          </a:p>
        </p:txBody>
      </p:sp>
      <p:sp>
        <p:nvSpPr>
          <p:cNvPr id="250" name="Titel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Benchmarking</a:t>
            </a:r>
          </a:p>
        </p:txBody>
      </p:sp>
      <p:sp>
        <p:nvSpPr>
          <p:cNvPr id="251" name="Inhaltsplatzhalter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350" indent="0">
              <a:buNone/>
            </a:pPr>
            <a:endParaRPr lang="en-GB" noProof="0" dirty="0"/>
          </a:p>
          <a:p>
            <a:endParaRPr lang="en-GB" noProof="0" dirty="0"/>
          </a:p>
        </p:txBody>
      </p:sp>
      <p:sp>
        <p:nvSpPr>
          <p:cNvPr id="252" name="Rechteck 4"/>
          <p:cNvSpPr txBox="1"/>
          <p:nvPr/>
        </p:nvSpPr>
        <p:spPr>
          <a:xfrm>
            <a:off x="990648" y="5007008"/>
            <a:ext cx="808233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GB" noProof="0" dirty="0"/>
              <a:t>Gu et al. : Revisiting Third-Party Library Detection: A Ground Truth Dataset and Its Implications Across Security Tasks, 2025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BF837B-8E06-A487-48B1-0AF467E36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9125"/>
            <a:ext cx="9144000" cy="3591499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DB058732-8F3D-4431-8094-08D9F37B12DA}"/>
              </a:ext>
            </a:extLst>
          </p:cNvPr>
          <p:cNvSpPr/>
          <p:nvPr/>
        </p:nvSpPr>
        <p:spPr>
          <a:xfrm>
            <a:off x="2758440" y="1409125"/>
            <a:ext cx="4869180" cy="359149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43E8419-4AE7-FDF8-CA2E-3711B014637C}"/>
              </a:ext>
            </a:extLst>
          </p:cNvPr>
          <p:cNvSpPr/>
          <p:nvPr/>
        </p:nvSpPr>
        <p:spPr>
          <a:xfrm>
            <a:off x="7627620" y="1318260"/>
            <a:ext cx="1516380" cy="210312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0FC864D-6963-071A-ED99-A64C48276D23}"/>
              </a:ext>
            </a:extLst>
          </p:cNvPr>
          <p:cNvSpPr/>
          <p:nvPr/>
        </p:nvSpPr>
        <p:spPr>
          <a:xfrm>
            <a:off x="7627620" y="3421380"/>
            <a:ext cx="1516380" cy="1579244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D6814B-2D04-1F0E-EA9F-45E769D2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Results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3FB313-EFAD-8342-8D55-1E37439BA966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27121CE-2ADE-6164-5EEE-3A298CCF0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8995"/>
            <a:ext cx="9144000" cy="378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8579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22AE0A-897B-16D9-DF86-8DDF04FEB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Comparison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F95789-0767-DE5A-8BD5-A53767EB0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350" indent="0">
              <a:buNone/>
            </a:pPr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AF21EC-B3D6-8A5D-D2FB-C3BEE5698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307" y="2210286"/>
            <a:ext cx="6039693" cy="182905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486D772-1629-E6C6-0F2D-4907051B6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53149"/>
            <a:ext cx="2737023" cy="174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90642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el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Conclusion</a:t>
            </a:r>
          </a:p>
        </p:txBody>
      </p:sp>
      <p:sp>
        <p:nvSpPr>
          <p:cNvPr id="280" name="Inhaltsplatzhalter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Standardized </a:t>
            </a:r>
            <a:r>
              <a:rPr lang="en-GB" dirty="0"/>
              <a:t>t</a:t>
            </a:r>
            <a:r>
              <a:rPr lang="en-GB" noProof="0" dirty="0" err="1"/>
              <a:t>esting</a:t>
            </a:r>
            <a:r>
              <a:rPr lang="en-GB" noProof="0" dirty="0"/>
              <a:t> data set required</a:t>
            </a:r>
          </a:p>
          <a:p>
            <a:r>
              <a:rPr lang="en-GB" dirty="0"/>
              <a:t>Version level accuracy scores low</a:t>
            </a:r>
          </a:p>
          <a:p>
            <a:r>
              <a:rPr lang="en-GB" noProof="0" dirty="0"/>
              <a:t>Existing Data sets not </a:t>
            </a:r>
            <a:r>
              <a:rPr lang="en-GB" noProof="0" dirty="0" err="1"/>
              <a:t>represen</a:t>
            </a:r>
            <a:r>
              <a:rPr lang="en-GB" dirty="0" err="1"/>
              <a:t>tative</a:t>
            </a:r>
            <a:endParaRPr lang="en-GB" noProof="0" dirty="0"/>
          </a:p>
          <a:p>
            <a:endParaRPr lang="en-GB" noProof="0"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41DA49-3290-8238-53EF-E8ED8FB64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Outlook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ACD56E-384A-8624-4795-9CAAE59B0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Data </a:t>
            </a:r>
            <a:r>
              <a:rPr lang="de-CH" dirty="0" err="1"/>
              <a:t>set</a:t>
            </a:r>
            <a:r>
              <a:rPr lang="de-CH" dirty="0"/>
              <a:t> </a:t>
            </a:r>
            <a:r>
              <a:rPr lang="de-CH" dirty="0" err="1"/>
              <a:t>offers</a:t>
            </a:r>
            <a:r>
              <a:rPr lang="de-CH" dirty="0"/>
              <a:t> </a:t>
            </a:r>
            <a:r>
              <a:rPr lang="de-CH" dirty="0" err="1"/>
              <a:t>obfuscated</a:t>
            </a:r>
            <a:r>
              <a:rPr lang="de-CH" dirty="0"/>
              <a:t> and non </a:t>
            </a:r>
            <a:r>
              <a:rPr lang="de-CH" dirty="0" err="1"/>
              <a:t>obfuscated</a:t>
            </a:r>
            <a:r>
              <a:rPr lang="de-CH" dirty="0"/>
              <a:t> hybrid </a:t>
            </a:r>
            <a:r>
              <a:rPr lang="de-CH" dirty="0" err="1"/>
              <a:t>apps</a:t>
            </a:r>
            <a:endParaRPr lang="de-CH" dirty="0"/>
          </a:p>
          <a:p>
            <a:r>
              <a:rPr lang="de-CH" dirty="0" err="1"/>
              <a:t>Guaranteed</a:t>
            </a:r>
            <a:r>
              <a:rPr lang="de-CH" dirty="0"/>
              <a:t> </a:t>
            </a:r>
            <a:r>
              <a:rPr lang="de-CH" dirty="0" err="1"/>
              <a:t>accuracy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self-compiling</a:t>
            </a:r>
            <a:endParaRPr lang="de-CH" dirty="0"/>
          </a:p>
          <a:p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:</a:t>
            </a:r>
          </a:p>
          <a:p>
            <a:pPr lvl="1"/>
            <a:r>
              <a:rPr lang="de-CH" dirty="0"/>
              <a:t>Benchmarking</a:t>
            </a:r>
          </a:p>
          <a:p>
            <a:pPr lvl="1"/>
            <a:r>
              <a:rPr lang="de-CH" dirty="0"/>
              <a:t>Training </a:t>
            </a:r>
            <a:r>
              <a:rPr lang="de-CH" dirty="0" err="1"/>
              <a:t>models</a:t>
            </a:r>
            <a:endParaRPr lang="de-CH" dirty="0"/>
          </a:p>
          <a:p>
            <a:pPr lvl="2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9870655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4BA110-79EB-FC4E-CCF3-F9CDB950A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Questions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6D67A2-A6D9-AA66-62E5-F7E61E793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3074" name="Picture 2" descr="To Get the Most Out of Your Team, Ask Better Questions - Business HorsePower">
            <a:extLst>
              <a:ext uri="{FF2B5EF4-FFF2-40B4-BE49-F238E27FC236}">
                <a16:creationId xmlns:a16="http://schemas.microsoft.com/office/drawing/2014/main" id="{3B8D2727-3E4C-92D3-5858-A0DAC4C45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7" y="205325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43269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5772FA-734F-9E99-172F-0C992B66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Sources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354FFC-02B3-3B87-6BAA-F0B02256B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CH" sz="1200" dirty="0"/>
              <a:t>Slide 3: </a:t>
            </a:r>
          </a:p>
          <a:p>
            <a:pPr lvl="1"/>
            <a:r>
              <a:rPr lang="en-GB" sz="1200" dirty="0"/>
              <a:t>1: https://avatars.githubusercontent.com/u/14101776?s=280&amp;v=4, 25.05.26; </a:t>
            </a:r>
          </a:p>
          <a:p>
            <a:pPr lvl="1"/>
            <a:r>
              <a:rPr lang="en-GB" sz="1200" dirty="0"/>
              <a:t>2: https://de.wikipedia.org/wiki/React_Native, 25.05.26</a:t>
            </a:r>
          </a:p>
          <a:p>
            <a:endParaRPr lang="en-GB" sz="1200" dirty="0"/>
          </a:p>
          <a:p>
            <a:r>
              <a:rPr lang="de-CH" sz="1200" dirty="0"/>
              <a:t> Slide 4: </a:t>
            </a:r>
            <a:r>
              <a:rPr lang="en-US" sz="1200" dirty="0"/>
              <a:t> </a:t>
            </a:r>
          </a:p>
          <a:p>
            <a:pPr lvl="1"/>
            <a:r>
              <a:rPr lang="en-US" sz="1200" dirty="0"/>
              <a:t>B. </a:t>
            </a:r>
            <a:r>
              <a:rPr lang="en-US" sz="1200" dirty="0" err="1"/>
              <a:t>Gokkaya</a:t>
            </a:r>
            <a:r>
              <a:rPr lang="en-US" sz="1200" dirty="0"/>
              <a:t>, L. Aniello, and B. Halak, “Software supply chain: A taxonomy of attacks, mitigations and risk assessment strategies,” Journal of Information Security and Applications, vol. 97, p. 104324, 2026. [Online]. Available: https://www.sciencedirect.com/science/article/pii/S2214212625003606,</a:t>
            </a:r>
          </a:p>
          <a:p>
            <a:pPr lvl="1"/>
            <a:r>
              <a:rPr lang="en-US" sz="1200" dirty="0"/>
              <a:t>H. Wang, Y. Guo, Z. Ma, and X. Chen, “Wukong: a scalable and accurate two-phase approach to android app clone detection,” in Proceedings of the 2015 International Symposium on Software Testing and Analysis, ser. ISSTA 2015. New York, NY, USA: Association for Computing Machinery, 2015, p. 71–82. [Online]. Available: https://doi.org/10.1145/2771783.2771795</a:t>
            </a:r>
            <a:endParaRPr lang="de-CH" sz="1200" dirty="0"/>
          </a:p>
        </p:txBody>
      </p:sp>
    </p:spTree>
    <p:extLst>
      <p:ext uri="{BB962C8B-B14F-4D97-AF65-F5344CB8AC3E}">
        <p14:creationId xmlns:p14="http://schemas.microsoft.com/office/powerpoint/2010/main" val="277135982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E6EC18-A6F4-2505-4267-EA7BC6D1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Sources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B6D2A8-F848-45BA-BD73-E0AAF6286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CH" sz="1200" dirty="0"/>
              <a:t>Slide 5: </a:t>
            </a:r>
            <a:r>
              <a:rPr lang="en-US" sz="1200" dirty="0"/>
              <a:t> L. Zhan, J. Ming, J. Fu, G. Peng, L. Sha, and L. Lan, “The hidden complexities of android </a:t>
            </a:r>
            <a:r>
              <a:rPr lang="en-US" sz="1200" dirty="0" err="1"/>
              <a:t>tpl</a:t>
            </a:r>
            <a:r>
              <a:rPr lang="en-US" sz="1200" dirty="0"/>
              <a:t> detection: An empirical analysis of techniques, challenges, and effectiveness,” Computers Security, vol. 159, p. 104672, 2025. [Online]. Available: https://www.sciencedirect.com/science/article/pii/S016740482500361X</a:t>
            </a:r>
          </a:p>
          <a:p>
            <a:r>
              <a:rPr lang="en-US" sz="1200" dirty="0"/>
              <a:t>Slide 6-8: Z. Ma, H. Wang, Y. Guo, and X. Chen, “</a:t>
            </a:r>
            <a:r>
              <a:rPr lang="en-US" sz="1200" dirty="0" err="1"/>
              <a:t>Libradar</a:t>
            </a:r>
            <a:r>
              <a:rPr lang="en-US" sz="1200" dirty="0"/>
              <a:t>: Fast and accurate detection of third-party libraries in android apps,” in 2016 IEEE/ACM 38th International Conference on Software Engineering Companion (ICSE-C), 2016, pp. 653–656.</a:t>
            </a:r>
          </a:p>
          <a:p>
            <a:r>
              <a:rPr lang="en-US" sz="1200" dirty="0"/>
              <a:t>Slide 9: Y. Wu, C. Sun, D. Zeng, G. Tan, S. Ma, and P. Wang, “</a:t>
            </a:r>
            <a:r>
              <a:rPr lang="en-US" sz="1200" dirty="0" err="1"/>
              <a:t>LibScan</a:t>
            </a:r>
            <a:r>
              <a:rPr lang="en-US" sz="1200" dirty="0"/>
              <a:t>: Towards more precise Third-Party library identification for android applications,” in 32nd USENIX Security Symposium (USENIX Security 23). Anaheim, CA: USENIX Association, Aug. 2023, pp. 3385–3402. [Online]. Available: https://www.usenix.org/conference/usenixsecurity23/presentation/wu-yafei</a:t>
            </a:r>
          </a:p>
          <a:p>
            <a:r>
              <a:rPr lang="de-CH" sz="1200" dirty="0"/>
              <a:t>Slide 10: D. Pan, Y. </a:t>
            </a:r>
            <a:r>
              <a:rPr lang="de-CH" sz="1200" dirty="0" err="1"/>
              <a:t>Xu</a:t>
            </a:r>
            <a:r>
              <a:rPr lang="de-CH" sz="1200" dirty="0"/>
              <a:t>, R. Feng, D. </a:t>
            </a:r>
            <a:r>
              <a:rPr lang="de-CH" sz="1200" dirty="0" err="1"/>
              <a:t>Yu</a:t>
            </a:r>
            <a:r>
              <a:rPr lang="de-CH" sz="1200" dirty="0"/>
              <a:t>, J. Chen, Y. Fang, and Y. Zhang, “Pay </a:t>
            </a:r>
            <a:r>
              <a:rPr lang="de-CH" sz="1200" dirty="0" err="1"/>
              <a:t>your</a:t>
            </a:r>
            <a:r>
              <a:rPr lang="de-CH" sz="1200" dirty="0"/>
              <a:t> </a:t>
            </a:r>
            <a:r>
              <a:rPr lang="de-CH" sz="1200" dirty="0" err="1"/>
              <a:t>attention</a:t>
            </a:r>
            <a:r>
              <a:rPr lang="de-CH" sz="1200" dirty="0"/>
              <a:t> on </a:t>
            </a:r>
            <a:r>
              <a:rPr lang="de-CH" sz="1200" dirty="0" err="1"/>
              <a:t>lib</a:t>
            </a:r>
            <a:r>
              <a:rPr lang="de-CH" sz="1200" dirty="0"/>
              <a:t>! </a:t>
            </a:r>
            <a:r>
              <a:rPr lang="de-CH" sz="1200" dirty="0" err="1"/>
              <a:t>android</a:t>
            </a:r>
            <a:r>
              <a:rPr lang="de-CH" sz="1200" dirty="0"/>
              <a:t> </a:t>
            </a:r>
            <a:r>
              <a:rPr lang="de-CH" sz="1200" dirty="0" err="1"/>
              <a:t>third</a:t>
            </a:r>
            <a:r>
              <a:rPr lang="de-CH" sz="1200" dirty="0"/>
              <a:t>-party </a:t>
            </a:r>
            <a:r>
              <a:rPr lang="de-CH" sz="1200" dirty="0" err="1"/>
              <a:t>library</a:t>
            </a:r>
            <a:r>
              <a:rPr lang="de-CH" sz="1200" dirty="0"/>
              <a:t> </a:t>
            </a:r>
            <a:r>
              <a:rPr lang="de-CH" sz="1200" dirty="0" err="1"/>
              <a:t>detection</a:t>
            </a:r>
            <a:r>
              <a:rPr lang="de-CH" sz="1200" dirty="0"/>
              <a:t> via feature </a:t>
            </a:r>
            <a:r>
              <a:rPr lang="de-CH" sz="1200" dirty="0" err="1"/>
              <a:t>language</a:t>
            </a:r>
            <a:r>
              <a:rPr lang="de-CH" sz="1200" dirty="0"/>
              <a:t> </a:t>
            </a:r>
            <a:r>
              <a:rPr lang="de-CH" sz="1200" dirty="0" err="1"/>
              <a:t>model</a:t>
            </a:r>
            <a:r>
              <a:rPr lang="de-CH" sz="1200" dirty="0"/>
              <a:t>,” in 2025 IEEE International Conference on Software Analysis, Evolution and Reengineering (SANER), 2025, pp. 217–228.</a:t>
            </a:r>
          </a:p>
        </p:txBody>
      </p:sp>
    </p:spTree>
    <p:extLst>
      <p:ext uri="{BB962C8B-B14F-4D97-AF65-F5344CB8AC3E}">
        <p14:creationId xmlns:p14="http://schemas.microsoft.com/office/powerpoint/2010/main" val="38801476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C7CD65-6661-91AA-8B9F-1EED1D45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Sources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C032E6-BA7D-1718-54D2-F0420CEE8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CH" sz="1200" dirty="0"/>
              <a:t>Slide 11-13: </a:t>
            </a:r>
            <a:r>
              <a:rPr lang="en-US" sz="1200" dirty="0"/>
              <a:t>J. Gu, H. Lu, G. Nan, Y. Lin, K. Wang, Y. Guo, Y. Cao, and Y. Liu, “Revisiting third-party library detection: A ground truth dataset and its implications across security tasks,” pp. 1–3, 7–9, 2025. [Online]. Available: https://arxiv.org/abs/2509.04091</a:t>
            </a:r>
          </a:p>
          <a:p>
            <a:endParaRPr lang="de-CH" sz="1200" dirty="0"/>
          </a:p>
        </p:txBody>
      </p:sp>
    </p:spTree>
    <p:extLst>
      <p:ext uri="{BB962C8B-B14F-4D97-AF65-F5344CB8AC3E}">
        <p14:creationId xmlns:p14="http://schemas.microsoft.com/office/powerpoint/2010/main" val="163784494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Universität Bern Vorlage">
  <a:themeElements>
    <a:clrScheme name="Universität Bern Vorlag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Universität Bern Vorlag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Universität Bern Vorlag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Universität Bern Vorlage">
  <a:themeElements>
    <a:clrScheme name="Universität Bern Vorlag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Universität Bern Vorlag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Universität Bern Vorlag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Microsoft Office PowerPoint</Application>
  <PresentationFormat>Bildschirmpräsentation (16:9)</PresentationFormat>
  <Paragraphs>119</Paragraphs>
  <Slides>19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Calibri</vt:lpstr>
      <vt:lpstr>Symbol</vt:lpstr>
      <vt:lpstr>Universität Bern Vorlage</vt:lpstr>
      <vt:lpstr>Seminar Software Engineering</vt:lpstr>
      <vt:lpstr>Outline</vt:lpstr>
      <vt:lpstr>Background</vt:lpstr>
      <vt:lpstr>Introduction</vt:lpstr>
      <vt:lpstr>TPL Detection</vt:lpstr>
      <vt:lpstr>Clustering-based Detection</vt:lpstr>
      <vt:lpstr>Clustering-based Detection</vt:lpstr>
      <vt:lpstr>Clustering-based Detection</vt:lpstr>
      <vt:lpstr>Similarity-based Detection</vt:lpstr>
      <vt:lpstr>Learning-based Detection</vt:lpstr>
      <vt:lpstr>Benchmarking</vt:lpstr>
      <vt:lpstr>Results</vt:lpstr>
      <vt:lpstr>Comparison</vt:lpstr>
      <vt:lpstr>Conclusion</vt:lpstr>
      <vt:lpstr>Outlook</vt:lpstr>
      <vt:lpstr>Questions</vt:lpstr>
      <vt:lpstr>Sources</vt:lpstr>
      <vt:lpstr>Sources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Tim Jordi</dc:creator>
  <cp:lastModifiedBy>Jordi, Tim Frederik (STUDENTS)</cp:lastModifiedBy>
  <cp:revision>16</cp:revision>
  <dcterms:modified xsi:type="dcterms:W3CDTF">2026-05-28T09:24:26Z</dcterms:modified>
</cp:coreProperties>
</file>